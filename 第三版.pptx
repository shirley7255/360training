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3"/>
    <p:sldId id="335" r:id="rId4"/>
    <p:sldId id="336" r:id="rId5"/>
    <p:sldId id="279" r:id="rId6"/>
    <p:sldId id="337" r:id="rId7"/>
    <p:sldId id="281" r:id="rId8"/>
    <p:sldId id="280" r:id="rId9"/>
    <p:sldId id="338" r:id="rId10"/>
    <p:sldId id="282" r:id="rId11"/>
    <p:sldId id="343" r:id="rId12"/>
    <p:sldId id="308" r:id="rId13"/>
    <p:sldId id="291" r:id="rId14"/>
    <p:sldId id="344" r:id="rId15"/>
    <p:sldId id="309" r:id="rId16"/>
    <p:sldId id="310" r:id="rId17"/>
    <p:sldId id="345" r:id="rId18"/>
    <p:sldId id="311" r:id="rId19"/>
    <p:sldId id="312" r:id="rId20"/>
    <p:sldId id="346" r:id="rId21"/>
    <p:sldId id="327" r:id="rId22"/>
    <p:sldId id="314" r:id="rId23"/>
    <p:sldId id="347" r:id="rId24"/>
    <p:sldId id="328" r:id="rId25"/>
    <p:sldId id="350" r:id="rId26"/>
    <p:sldId id="351" r:id="rId27"/>
    <p:sldId id="352" r:id="rId28"/>
    <p:sldId id="339" r:id="rId29"/>
    <p:sldId id="322" r:id="rId30"/>
    <p:sldId id="340" r:id="rId31"/>
    <p:sldId id="333" r:id="rId32"/>
    <p:sldId id="349" r:id="rId33"/>
    <p:sldId id="323" r:id="rId34"/>
    <p:sldId id="324" r:id="rId35"/>
    <p:sldId id="334" r:id="rId36"/>
    <p:sldId id="341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94"/>
  </p:normalViewPr>
  <p:slideViewPr>
    <p:cSldViewPr snapToGrid="0" snapToObjects="1" showGuides="1">
      <p:cViewPr varScale="1">
        <p:scale>
          <a:sx n="65" d="100"/>
          <a:sy n="65" d="100"/>
        </p:scale>
        <p:origin x="72" y="204"/>
      </p:cViewPr>
      <p:guideLst>
        <p:guide orient="horz" pos="22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28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1" descr="图片 11"/>
          <p:cNvPicPr>
            <a:picLocks noChangeAspect="1"/>
          </p:cNvPicPr>
          <p:nvPr userDrawn="1"/>
        </p:nvPicPr>
        <p:blipFill>
          <a:blip r:embed="rId2"/>
          <a:srcRect l="50028" b="13495"/>
          <a:stretch>
            <a:fillRect/>
          </a:stretch>
        </p:blipFill>
        <p:spPr>
          <a:xfrm>
            <a:off x="-812800" y="2149475"/>
            <a:ext cx="4159885" cy="339026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" name="图片 10" descr="图片 10"/>
          <p:cNvPicPr>
            <a:picLocks noChangeAspect="1"/>
          </p:cNvPicPr>
          <p:nvPr userDrawn="1"/>
        </p:nvPicPr>
        <p:blipFill>
          <a:blip r:embed="rId3"/>
          <a:srcRect b="3900"/>
          <a:stretch>
            <a:fillRect/>
          </a:stretch>
        </p:blipFill>
        <p:spPr>
          <a:xfrm>
            <a:off x="961389" y="3518093"/>
            <a:ext cx="10433686" cy="36607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" name="图片 9" descr="图片 9"/>
          <p:cNvPicPr>
            <a:picLocks noChangeAspect="1"/>
          </p:cNvPicPr>
          <p:nvPr userDrawn="1"/>
        </p:nvPicPr>
        <p:blipFill>
          <a:blip r:embed="rId4"/>
          <a:srcRect t="6678" b="1167"/>
          <a:stretch>
            <a:fillRect/>
          </a:stretch>
        </p:blipFill>
        <p:spPr>
          <a:xfrm>
            <a:off x="4766945" y="-391160"/>
            <a:ext cx="7797801" cy="33559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标题 3"/>
          <p:cNvSpPr txBox="1"/>
          <p:nvPr userDrawn="1"/>
        </p:nvSpPr>
        <p:spPr>
          <a:xfrm>
            <a:off x="1196340" y="6416675"/>
            <a:ext cx="9799320" cy="359411"/>
          </a:xfrm>
          <a:prstGeom prst="rect">
            <a:avLst/>
          </a:prstGeom>
          <a:ln w="12700">
            <a:miter lim="400000"/>
          </a:ln>
        </p:spPr>
        <p:txBody>
          <a:bodyPr lIns="46799" tIns="46799" rIns="46799" bIns="46799" anchor="b">
            <a:normAutofit/>
          </a:bodyPr>
          <a:lstStyle>
            <a:lvl1pPr algn="ctr">
              <a:lnSpc>
                <a:spcPct val="90000"/>
              </a:lnSpc>
              <a:defRPr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 smtClean="0"/>
              <a:t>university.360.cn</a:t>
            </a:r>
            <a:endParaRPr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21" y="550734"/>
            <a:ext cx="1585452" cy="63418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8" descr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69" y="6369050"/>
            <a:ext cx="11304001" cy="7707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3"/>
          <p:cNvSpPr txBox="1"/>
          <p:nvPr userDrawn="1"/>
        </p:nvSpPr>
        <p:spPr>
          <a:xfrm>
            <a:off x="1196340" y="6463579"/>
            <a:ext cx="9799320" cy="359411"/>
          </a:xfrm>
          <a:prstGeom prst="rect">
            <a:avLst/>
          </a:prstGeom>
          <a:ln w="12700">
            <a:miter lim="400000"/>
          </a:ln>
        </p:spPr>
        <p:txBody>
          <a:bodyPr lIns="46799" tIns="46799" rIns="46799" bIns="46799" anchor="b">
            <a:normAutofit/>
          </a:bodyPr>
          <a:lstStyle>
            <a:lvl1pPr algn="ctr">
              <a:lnSpc>
                <a:spcPct val="90000"/>
              </a:lnSpc>
              <a:defRPr spc="2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sz="1600" dirty="0" smtClean="0"/>
              <a:t>university.360.cn</a:t>
            </a:r>
            <a:endParaRPr sz="1600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97117"/>
            <a:ext cx="12192000" cy="502848"/>
          </a:xfrm>
          <a:prstGeom prst="rect">
            <a:avLst/>
          </a:prstGeom>
          <a:gradFill>
            <a:gsLst>
              <a:gs pos="89000">
                <a:srgbClr val="00AB7A">
                  <a:alpha val="0"/>
                </a:srgbClr>
              </a:gs>
              <a:gs pos="45000">
                <a:srgbClr val="00AB7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-25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1739" y="6320292"/>
            <a:ext cx="1028887" cy="271009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7817226-A4A8-4CA8-8499-073E4B5E21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69579" y="6502853"/>
            <a:ext cx="789305" cy="278947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E3A6F2A-4BD1-4B71-A85C-4AC4B8E4C9A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AutoShape 31"/>
          <p:cNvSpPr>
            <a:spLocks noChangeAspect="1" noChangeArrowheads="1" noTextEdit="1"/>
          </p:cNvSpPr>
          <p:nvPr/>
        </p:nvSpPr>
        <p:spPr bwMode="auto">
          <a:xfrm>
            <a:off x="564" y="236492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34"/>
          <p:cNvSpPr/>
          <p:nvPr/>
        </p:nvSpPr>
        <p:spPr bwMode="auto">
          <a:xfrm>
            <a:off x="69031" y="219203"/>
            <a:ext cx="145443" cy="145443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34"/>
          <p:cNvSpPr/>
          <p:nvPr userDrawn="1"/>
        </p:nvSpPr>
        <p:spPr bwMode="auto">
          <a:xfrm>
            <a:off x="226448" y="341831"/>
            <a:ext cx="77055" cy="77055"/>
          </a:xfrm>
          <a:custGeom>
            <a:avLst/>
            <a:gdLst>
              <a:gd name="T0" fmla="*/ 58 w 65"/>
              <a:gd name="T1" fmla="*/ 25 h 65"/>
              <a:gd name="T2" fmla="*/ 40 w 65"/>
              <a:gd name="T3" fmla="*/ 25 h 65"/>
              <a:gd name="T4" fmla="*/ 40 w 65"/>
              <a:gd name="T5" fmla="*/ 7 h 65"/>
              <a:gd name="T6" fmla="*/ 33 w 65"/>
              <a:gd name="T7" fmla="*/ 0 h 65"/>
              <a:gd name="T8" fmla="*/ 25 w 65"/>
              <a:gd name="T9" fmla="*/ 7 h 65"/>
              <a:gd name="T10" fmla="*/ 25 w 65"/>
              <a:gd name="T11" fmla="*/ 11 h 65"/>
              <a:gd name="T12" fmla="*/ 25 w 65"/>
              <a:gd name="T13" fmla="*/ 25 h 65"/>
              <a:gd name="T14" fmla="*/ 7 w 65"/>
              <a:gd name="T15" fmla="*/ 25 h 65"/>
              <a:gd name="T16" fmla="*/ 0 w 65"/>
              <a:gd name="T17" fmla="*/ 32 h 65"/>
              <a:gd name="T18" fmla="*/ 7 w 65"/>
              <a:gd name="T19" fmla="*/ 40 h 65"/>
              <a:gd name="T20" fmla="*/ 25 w 65"/>
              <a:gd name="T21" fmla="*/ 40 h 65"/>
              <a:gd name="T22" fmla="*/ 25 w 65"/>
              <a:gd name="T23" fmla="*/ 57 h 65"/>
              <a:gd name="T24" fmla="*/ 33 w 65"/>
              <a:gd name="T25" fmla="*/ 65 h 65"/>
              <a:gd name="T26" fmla="*/ 40 w 65"/>
              <a:gd name="T27" fmla="*/ 57 h 65"/>
              <a:gd name="T28" fmla="*/ 40 w 65"/>
              <a:gd name="T29" fmla="*/ 40 h 65"/>
              <a:gd name="T30" fmla="*/ 45 w 65"/>
              <a:gd name="T31" fmla="*/ 40 h 65"/>
              <a:gd name="T32" fmla="*/ 58 w 65"/>
              <a:gd name="T33" fmla="*/ 40 h 65"/>
              <a:gd name="T34" fmla="*/ 65 w 65"/>
              <a:gd name="T35" fmla="*/ 32 h 65"/>
              <a:gd name="T36" fmla="*/ 58 w 65"/>
              <a:gd name="T37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5" h="65">
                <a:moveTo>
                  <a:pt x="58" y="25"/>
                </a:moveTo>
                <a:cubicBezTo>
                  <a:pt x="40" y="25"/>
                  <a:pt x="40" y="25"/>
                  <a:pt x="40" y="25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3"/>
                  <a:pt x="37" y="0"/>
                  <a:pt x="33" y="0"/>
                </a:cubicBezTo>
                <a:cubicBezTo>
                  <a:pt x="28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5"/>
                  <a:pt x="0" y="28"/>
                  <a:pt x="0" y="32"/>
                </a:cubicBezTo>
                <a:cubicBezTo>
                  <a:pt x="0" y="36"/>
                  <a:pt x="3" y="40"/>
                  <a:pt x="7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61"/>
                  <a:pt x="28" y="65"/>
                  <a:pt x="33" y="65"/>
                </a:cubicBezTo>
                <a:cubicBezTo>
                  <a:pt x="37" y="65"/>
                  <a:pt x="40" y="61"/>
                  <a:pt x="40" y="57"/>
                </a:cubicBezTo>
                <a:cubicBezTo>
                  <a:pt x="40" y="40"/>
                  <a:pt x="40" y="40"/>
                  <a:pt x="40" y="40"/>
                </a:cubicBezTo>
                <a:cubicBezTo>
                  <a:pt x="45" y="40"/>
                  <a:pt x="45" y="40"/>
                  <a:pt x="45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62" y="40"/>
                  <a:pt x="65" y="36"/>
                  <a:pt x="65" y="32"/>
                </a:cubicBezTo>
                <a:cubicBezTo>
                  <a:pt x="65" y="28"/>
                  <a:pt x="62" y="25"/>
                  <a:pt x="58" y="25"/>
                </a:cubicBezTo>
                <a:close/>
              </a:path>
            </a:pathLst>
          </a:custGeom>
          <a:solidFill>
            <a:schemeClr val="bg1">
              <a:alpha val="5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2" name="组合 41"/>
          <p:cNvGrpSpPr/>
          <p:nvPr userDrawn="1"/>
        </p:nvGrpSpPr>
        <p:grpSpPr>
          <a:xfrm>
            <a:off x="10482901" y="170733"/>
            <a:ext cx="1375983" cy="344775"/>
            <a:chOff x="7550392" y="-466606"/>
            <a:chExt cx="1031987" cy="258581"/>
          </a:xfrm>
          <a:solidFill>
            <a:srgbClr val="555963"/>
          </a:solidFill>
        </p:grpSpPr>
        <p:sp>
          <p:nvSpPr>
            <p:cNvPr id="19" name="Freeform 5"/>
            <p:cNvSpPr/>
            <p:nvPr userDrawn="1"/>
          </p:nvSpPr>
          <p:spPr bwMode="auto">
            <a:xfrm>
              <a:off x="7591672" y="-422211"/>
              <a:ext cx="66982" cy="65424"/>
            </a:xfrm>
            <a:custGeom>
              <a:avLst/>
              <a:gdLst>
                <a:gd name="T0" fmla="*/ 35 w 40"/>
                <a:gd name="T1" fmla="*/ 15 h 39"/>
                <a:gd name="T2" fmla="*/ 25 w 40"/>
                <a:gd name="T3" fmla="*/ 15 h 39"/>
                <a:gd name="T4" fmla="*/ 25 w 40"/>
                <a:gd name="T5" fmla="*/ 4 h 39"/>
                <a:gd name="T6" fmla="*/ 20 w 40"/>
                <a:gd name="T7" fmla="*/ 0 h 39"/>
                <a:gd name="T8" fmla="*/ 16 w 40"/>
                <a:gd name="T9" fmla="*/ 4 h 39"/>
                <a:gd name="T10" fmla="*/ 16 w 40"/>
                <a:gd name="T11" fmla="*/ 15 h 39"/>
                <a:gd name="T12" fmla="*/ 5 w 40"/>
                <a:gd name="T13" fmla="*/ 15 h 39"/>
                <a:gd name="T14" fmla="*/ 0 w 40"/>
                <a:gd name="T15" fmla="*/ 20 h 39"/>
                <a:gd name="T16" fmla="*/ 0 w 40"/>
                <a:gd name="T17" fmla="*/ 20 h 39"/>
                <a:gd name="T18" fmla="*/ 5 w 40"/>
                <a:gd name="T19" fmla="*/ 24 h 39"/>
                <a:gd name="T20" fmla="*/ 16 w 40"/>
                <a:gd name="T21" fmla="*/ 24 h 39"/>
                <a:gd name="T22" fmla="*/ 16 w 40"/>
                <a:gd name="T23" fmla="*/ 35 h 39"/>
                <a:gd name="T24" fmla="*/ 20 w 40"/>
                <a:gd name="T25" fmla="*/ 39 h 39"/>
                <a:gd name="T26" fmla="*/ 25 w 40"/>
                <a:gd name="T27" fmla="*/ 35 h 39"/>
                <a:gd name="T28" fmla="*/ 25 w 40"/>
                <a:gd name="T29" fmla="*/ 24 h 39"/>
                <a:gd name="T30" fmla="*/ 35 w 40"/>
                <a:gd name="T31" fmla="*/ 24 h 39"/>
                <a:gd name="T32" fmla="*/ 40 w 40"/>
                <a:gd name="T33" fmla="*/ 20 h 39"/>
                <a:gd name="T34" fmla="*/ 40 w 40"/>
                <a:gd name="T35" fmla="*/ 20 h 39"/>
                <a:gd name="T36" fmla="*/ 35 w 40"/>
                <a:gd name="T37" fmla="*/ 1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0" h="39">
                  <a:moveTo>
                    <a:pt x="35" y="15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"/>
                    <a:pt x="23" y="0"/>
                    <a:pt x="20" y="0"/>
                  </a:cubicBezTo>
                  <a:cubicBezTo>
                    <a:pt x="18" y="0"/>
                    <a:pt x="16" y="2"/>
                    <a:pt x="16" y="4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5"/>
                    <a:pt x="0" y="17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2"/>
                    <a:pt x="2" y="24"/>
                    <a:pt x="5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7"/>
                    <a:pt x="18" y="39"/>
                    <a:pt x="20" y="39"/>
                  </a:cubicBezTo>
                  <a:cubicBezTo>
                    <a:pt x="23" y="39"/>
                    <a:pt x="25" y="37"/>
                    <a:pt x="25" y="35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8" y="24"/>
                    <a:pt x="40" y="22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17"/>
                    <a:pt x="38" y="15"/>
                    <a:pt x="3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7550392" y="-466606"/>
              <a:ext cx="151098" cy="154214"/>
            </a:xfrm>
            <a:custGeom>
              <a:avLst/>
              <a:gdLst>
                <a:gd name="T0" fmla="*/ 84 w 91"/>
                <a:gd name="T1" fmla="*/ 22 h 91"/>
                <a:gd name="T2" fmla="*/ 83 w 91"/>
                <a:gd name="T3" fmla="*/ 20 h 91"/>
                <a:gd name="T4" fmla="*/ 60 w 91"/>
                <a:gd name="T5" fmla="*/ 3 h 91"/>
                <a:gd name="T6" fmla="*/ 59 w 91"/>
                <a:gd name="T7" fmla="*/ 2 h 91"/>
                <a:gd name="T8" fmla="*/ 58 w 91"/>
                <a:gd name="T9" fmla="*/ 2 h 91"/>
                <a:gd name="T10" fmla="*/ 56 w 91"/>
                <a:gd name="T11" fmla="*/ 1 h 91"/>
                <a:gd name="T12" fmla="*/ 55 w 91"/>
                <a:gd name="T13" fmla="*/ 1 h 91"/>
                <a:gd name="T14" fmla="*/ 51 w 91"/>
                <a:gd name="T15" fmla="*/ 1 h 91"/>
                <a:gd name="T16" fmla="*/ 50 w 91"/>
                <a:gd name="T17" fmla="*/ 0 h 91"/>
                <a:gd name="T18" fmla="*/ 48 w 91"/>
                <a:gd name="T19" fmla="*/ 0 h 91"/>
                <a:gd name="T20" fmla="*/ 47 w 91"/>
                <a:gd name="T21" fmla="*/ 0 h 91"/>
                <a:gd name="T22" fmla="*/ 45 w 91"/>
                <a:gd name="T23" fmla="*/ 0 h 91"/>
                <a:gd name="T24" fmla="*/ 8 w 91"/>
                <a:gd name="T25" fmla="*/ 20 h 91"/>
                <a:gd name="T26" fmla="*/ 7 w 91"/>
                <a:gd name="T27" fmla="*/ 21 h 91"/>
                <a:gd name="T28" fmla="*/ 6 w 91"/>
                <a:gd name="T29" fmla="*/ 23 h 91"/>
                <a:gd name="T30" fmla="*/ 5 w 91"/>
                <a:gd name="T31" fmla="*/ 24 h 91"/>
                <a:gd name="T32" fmla="*/ 5 w 91"/>
                <a:gd name="T33" fmla="*/ 25 h 91"/>
                <a:gd name="T34" fmla="*/ 4 w 91"/>
                <a:gd name="T35" fmla="*/ 26 h 91"/>
                <a:gd name="T36" fmla="*/ 0 w 91"/>
                <a:gd name="T37" fmla="*/ 46 h 91"/>
                <a:gd name="T38" fmla="*/ 5 w 91"/>
                <a:gd name="T39" fmla="*/ 66 h 91"/>
                <a:gd name="T40" fmla="*/ 31 w 91"/>
                <a:gd name="T41" fmla="*/ 88 h 91"/>
                <a:gd name="T42" fmla="*/ 32 w 91"/>
                <a:gd name="T43" fmla="*/ 89 h 91"/>
                <a:gd name="T44" fmla="*/ 34 w 91"/>
                <a:gd name="T45" fmla="*/ 89 h 91"/>
                <a:gd name="T46" fmla="*/ 36 w 91"/>
                <a:gd name="T47" fmla="*/ 90 h 91"/>
                <a:gd name="T48" fmla="*/ 45 w 91"/>
                <a:gd name="T49" fmla="*/ 91 h 91"/>
                <a:gd name="T50" fmla="*/ 48 w 91"/>
                <a:gd name="T51" fmla="*/ 91 h 91"/>
                <a:gd name="T52" fmla="*/ 53 w 91"/>
                <a:gd name="T53" fmla="*/ 90 h 91"/>
                <a:gd name="T54" fmla="*/ 54 w 91"/>
                <a:gd name="T55" fmla="*/ 90 h 91"/>
                <a:gd name="T56" fmla="*/ 58 w 91"/>
                <a:gd name="T57" fmla="*/ 89 h 91"/>
                <a:gd name="T58" fmla="*/ 59 w 91"/>
                <a:gd name="T59" fmla="*/ 89 h 91"/>
                <a:gd name="T60" fmla="*/ 61 w 91"/>
                <a:gd name="T61" fmla="*/ 88 h 91"/>
                <a:gd name="T62" fmla="*/ 62 w 91"/>
                <a:gd name="T63" fmla="*/ 88 h 91"/>
                <a:gd name="T64" fmla="*/ 64 w 91"/>
                <a:gd name="T65" fmla="*/ 87 h 91"/>
                <a:gd name="T66" fmla="*/ 65 w 91"/>
                <a:gd name="T67" fmla="*/ 86 h 91"/>
                <a:gd name="T68" fmla="*/ 67 w 91"/>
                <a:gd name="T69" fmla="*/ 85 h 91"/>
                <a:gd name="T70" fmla="*/ 68 w 91"/>
                <a:gd name="T71" fmla="*/ 85 h 91"/>
                <a:gd name="T72" fmla="*/ 91 w 91"/>
                <a:gd name="T73" fmla="*/ 46 h 91"/>
                <a:gd name="T74" fmla="*/ 72 w 91"/>
                <a:gd name="T75" fmla="*/ 77 h 91"/>
                <a:gd name="T76" fmla="*/ 24 w 91"/>
                <a:gd name="T77" fmla="*/ 64 h 91"/>
                <a:gd name="T78" fmla="*/ 8 w 91"/>
                <a:gd name="T79" fmla="*/ 62 h 91"/>
                <a:gd name="T80" fmla="*/ 8 w 91"/>
                <a:gd name="T81" fmla="*/ 62 h 91"/>
                <a:gd name="T82" fmla="*/ 18 w 91"/>
                <a:gd name="T83" fmla="*/ 14 h 91"/>
                <a:gd name="T84" fmla="*/ 67 w 91"/>
                <a:gd name="T85" fmla="*/ 27 h 91"/>
                <a:gd name="T86" fmla="*/ 83 w 91"/>
                <a:gd name="T87" fmla="*/ 29 h 91"/>
                <a:gd name="T88" fmla="*/ 83 w 91"/>
                <a:gd name="T89" fmla="*/ 29 h 91"/>
                <a:gd name="T90" fmla="*/ 72 w 91"/>
                <a:gd name="T91" fmla="*/ 7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1" h="91">
                  <a:moveTo>
                    <a:pt x="84" y="22"/>
                  </a:moveTo>
                  <a:cubicBezTo>
                    <a:pt x="84" y="22"/>
                    <a:pt x="84" y="22"/>
                    <a:pt x="84" y="22"/>
                  </a:cubicBezTo>
                  <a:cubicBezTo>
                    <a:pt x="84" y="22"/>
                    <a:pt x="84" y="21"/>
                    <a:pt x="83" y="21"/>
                  </a:cubicBezTo>
                  <a:cubicBezTo>
                    <a:pt x="83" y="21"/>
                    <a:pt x="83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77" y="12"/>
                    <a:pt x="69" y="6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9" y="2"/>
                    <a:pt x="59" y="2"/>
                    <a:pt x="58" y="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7" y="2"/>
                    <a:pt x="57" y="2"/>
                    <a:pt x="56" y="2"/>
                  </a:cubicBezTo>
                  <a:cubicBezTo>
                    <a:pt x="56" y="2"/>
                    <a:pt x="56" y="2"/>
                    <a:pt x="56" y="1"/>
                  </a:cubicBezTo>
                  <a:cubicBezTo>
                    <a:pt x="56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4" y="1"/>
                    <a:pt x="53" y="1"/>
                    <a:pt x="52" y="1"/>
                  </a:cubicBezTo>
                  <a:cubicBezTo>
                    <a:pt x="52" y="1"/>
                    <a:pt x="52" y="1"/>
                    <a:pt x="51" y="1"/>
                  </a:cubicBezTo>
                  <a:cubicBezTo>
                    <a:pt x="51" y="1"/>
                    <a:pt x="51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28" y="1"/>
                    <a:pt x="15" y="9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7" y="20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2"/>
                    <a:pt x="6" y="22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5"/>
                    <a:pt x="5" y="25"/>
                  </a:cubicBezTo>
                  <a:cubicBezTo>
                    <a:pt x="5" y="25"/>
                    <a:pt x="5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" y="32"/>
                    <a:pt x="0" y="39"/>
                    <a:pt x="0" y="46"/>
                  </a:cubicBezTo>
                  <a:cubicBezTo>
                    <a:pt x="0" y="53"/>
                    <a:pt x="2" y="60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10" y="77"/>
                    <a:pt x="19" y="85"/>
                    <a:pt x="31" y="88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3" y="89"/>
                  </a:cubicBezTo>
                  <a:cubicBezTo>
                    <a:pt x="33" y="89"/>
                    <a:pt x="34" y="89"/>
                    <a:pt x="34" y="89"/>
                  </a:cubicBezTo>
                  <a:cubicBezTo>
                    <a:pt x="34" y="89"/>
                    <a:pt x="34" y="90"/>
                    <a:pt x="34" y="90"/>
                  </a:cubicBezTo>
                  <a:cubicBezTo>
                    <a:pt x="35" y="90"/>
                    <a:pt x="35" y="90"/>
                    <a:pt x="36" y="90"/>
                  </a:cubicBezTo>
                  <a:cubicBezTo>
                    <a:pt x="36" y="90"/>
                    <a:pt x="36" y="90"/>
                    <a:pt x="36" y="90"/>
                  </a:cubicBezTo>
                  <a:cubicBezTo>
                    <a:pt x="39" y="91"/>
                    <a:pt x="42" y="91"/>
                    <a:pt x="45" y="91"/>
                  </a:cubicBezTo>
                  <a:cubicBezTo>
                    <a:pt x="46" y="91"/>
                    <a:pt x="46" y="91"/>
                    <a:pt x="47" y="91"/>
                  </a:cubicBezTo>
                  <a:cubicBezTo>
                    <a:pt x="47" y="91"/>
                    <a:pt x="47" y="91"/>
                    <a:pt x="48" y="91"/>
                  </a:cubicBezTo>
                  <a:cubicBezTo>
                    <a:pt x="49" y="91"/>
                    <a:pt x="51" y="90"/>
                    <a:pt x="53" y="90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5" y="90"/>
                    <a:pt x="56" y="89"/>
                    <a:pt x="57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8" y="89"/>
                    <a:pt x="58" y="89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89"/>
                    <a:pt x="60" y="88"/>
                    <a:pt x="60" y="88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61" y="88"/>
                    <a:pt x="61" y="88"/>
                    <a:pt x="62" y="88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87"/>
                    <a:pt x="63" y="87"/>
                    <a:pt x="63" y="87"/>
                  </a:cubicBezTo>
                  <a:cubicBezTo>
                    <a:pt x="63" y="87"/>
                    <a:pt x="64" y="87"/>
                    <a:pt x="64" y="87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65" y="87"/>
                    <a:pt x="65" y="86"/>
                    <a:pt x="65" y="86"/>
                  </a:cubicBezTo>
                  <a:cubicBezTo>
                    <a:pt x="65" y="86"/>
                    <a:pt x="65" y="86"/>
                    <a:pt x="66" y="86"/>
                  </a:cubicBezTo>
                  <a:cubicBezTo>
                    <a:pt x="66" y="86"/>
                    <a:pt x="66" y="86"/>
                    <a:pt x="67" y="85"/>
                  </a:cubicBezTo>
                  <a:cubicBezTo>
                    <a:pt x="67" y="85"/>
                    <a:pt x="67" y="85"/>
                    <a:pt x="67" y="85"/>
                  </a:cubicBezTo>
                  <a:cubicBezTo>
                    <a:pt x="67" y="85"/>
                    <a:pt x="68" y="85"/>
                    <a:pt x="68" y="85"/>
                  </a:cubicBezTo>
                  <a:cubicBezTo>
                    <a:pt x="68" y="85"/>
                    <a:pt x="68" y="85"/>
                    <a:pt x="68" y="85"/>
                  </a:cubicBezTo>
                  <a:cubicBezTo>
                    <a:pt x="82" y="77"/>
                    <a:pt x="91" y="62"/>
                    <a:pt x="91" y="46"/>
                  </a:cubicBezTo>
                  <a:cubicBezTo>
                    <a:pt x="91" y="37"/>
                    <a:pt x="88" y="29"/>
                    <a:pt x="84" y="22"/>
                  </a:cubicBezTo>
                  <a:close/>
                  <a:moveTo>
                    <a:pt x="72" y="77"/>
                  </a:moveTo>
                  <a:cubicBezTo>
                    <a:pt x="69" y="78"/>
                    <a:pt x="65" y="80"/>
                    <a:pt x="61" y="80"/>
                  </a:cubicBezTo>
                  <a:cubicBezTo>
                    <a:pt x="46" y="82"/>
                    <a:pt x="35" y="76"/>
                    <a:pt x="24" y="64"/>
                  </a:cubicBezTo>
                  <a:cubicBezTo>
                    <a:pt x="22" y="63"/>
                    <a:pt x="19" y="61"/>
                    <a:pt x="18" y="61"/>
                  </a:cubicBezTo>
                  <a:cubicBezTo>
                    <a:pt x="13" y="59"/>
                    <a:pt x="9" y="61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5" y="57"/>
                    <a:pt x="4" y="52"/>
                    <a:pt x="4" y="46"/>
                  </a:cubicBezTo>
                  <a:cubicBezTo>
                    <a:pt x="4" y="33"/>
                    <a:pt x="10" y="22"/>
                    <a:pt x="18" y="14"/>
                  </a:cubicBezTo>
                  <a:cubicBezTo>
                    <a:pt x="21" y="13"/>
                    <a:pt x="25" y="11"/>
                    <a:pt x="29" y="11"/>
                  </a:cubicBezTo>
                  <a:cubicBezTo>
                    <a:pt x="45" y="9"/>
                    <a:pt x="55" y="15"/>
                    <a:pt x="67" y="27"/>
                  </a:cubicBezTo>
                  <a:cubicBezTo>
                    <a:pt x="68" y="28"/>
                    <a:pt x="71" y="30"/>
                    <a:pt x="72" y="30"/>
                  </a:cubicBezTo>
                  <a:cubicBezTo>
                    <a:pt x="77" y="32"/>
                    <a:pt x="81" y="30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5" y="34"/>
                    <a:pt x="86" y="40"/>
                    <a:pt x="86" y="46"/>
                  </a:cubicBezTo>
                  <a:cubicBezTo>
                    <a:pt x="86" y="58"/>
                    <a:pt x="81" y="69"/>
                    <a:pt x="72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7"/>
            <p:cNvSpPr/>
            <p:nvPr userDrawn="1"/>
          </p:nvSpPr>
          <p:spPr bwMode="auto">
            <a:xfrm>
              <a:off x="7717068" y="-437788"/>
              <a:ext cx="111377" cy="96578"/>
            </a:xfrm>
            <a:custGeom>
              <a:avLst/>
              <a:gdLst>
                <a:gd name="T0" fmla="*/ 67 w 67"/>
                <a:gd name="T1" fmla="*/ 20 h 57"/>
                <a:gd name="T2" fmla="*/ 47 w 67"/>
                <a:gd name="T3" fmla="*/ 0 h 57"/>
                <a:gd name="T4" fmla="*/ 0 w 67"/>
                <a:gd name="T5" fmla="*/ 0 h 57"/>
                <a:gd name="T6" fmla="*/ 0 w 67"/>
                <a:gd name="T7" fmla="*/ 3 h 57"/>
                <a:gd name="T8" fmla="*/ 5 w 67"/>
                <a:gd name="T9" fmla="*/ 8 h 57"/>
                <a:gd name="T10" fmla="*/ 47 w 67"/>
                <a:gd name="T11" fmla="*/ 8 h 57"/>
                <a:gd name="T12" fmla="*/ 58 w 67"/>
                <a:gd name="T13" fmla="*/ 20 h 57"/>
                <a:gd name="T14" fmla="*/ 58 w 67"/>
                <a:gd name="T15" fmla="*/ 22 h 57"/>
                <a:gd name="T16" fmla="*/ 58 w 67"/>
                <a:gd name="T17" fmla="*/ 23 h 57"/>
                <a:gd name="T18" fmla="*/ 57 w 67"/>
                <a:gd name="T19" fmla="*/ 23 h 57"/>
                <a:gd name="T20" fmla="*/ 6 w 67"/>
                <a:gd name="T21" fmla="*/ 23 h 57"/>
                <a:gd name="T22" fmla="*/ 6 w 67"/>
                <a:gd name="T23" fmla="*/ 32 h 57"/>
                <a:gd name="T24" fmla="*/ 57 w 67"/>
                <a:gd name="T25" fmla="*/ 32 h 57"/>
                <a:gd name="T26" fmla="*/ 58 w 67"/>
                <a:gd name="T27" fmla="*/ 32 h 57"/>
                <a:gd name="T28" fmla="*/ 58 w 67"/>
                <a:gd name="T29" fmla="*/ 32 h 57"/>
                <a:gd name="T30" fmla="*/ 58 w 67"/>
                <a:gd name="T31" fmla="*/ 37 h 57"/>
                <a:gd name="T32" fmla="*/ 47 w 67"/>
                <a:gd name="T33" fmla="*/ 48 h 57"/>
                <a:gd name="T34" fmla="*/ 5 w 67"/>
                <a:gd name="T35" fmla="*/ 48 h 57"/>
                <a:gd name="T36" fmla="*/ 0 w 67"/>
                <a:gd name="T37" fmla="*/ 53 h 57"/>
                <a:gd name="T38" fmla="*/ 0 w 67"/>
                <a:gd name="T39" fmla="*/ 57 h 57"/>
                <a:gd name="T40" fmla="*/ 46 w 67"/>
                <a:gd name="T41" fmla="*/ 57 h 57"/>
                <a:gd name="T42" fmla="*/ 60 w 67"/>
                <a:gd name="T43" fmla="*/ 52 h 57"/>
                <a:gd name="T44" fmla="*/ 67 w 67"/>
                <a:gd name="T45" fmla="*/ 37 h 57"/>
                <a:gd name="T46" fmla="*/ 67 w 67"/>
                <a:gd name="T47" fmla="*/ 2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7" h="57">
                  <a:moveTo>
                    <a:pt x="67" y="20"/>
                  </a:moveTo>
                  <a:cubicBezTo>
                    <a:pt x="67" y="9"/>
                    <a:pt x="58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2" y="8"/>
                    <a:pt x="5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3" y="8"/>
                    <a:pt x="58" y="13"/>
                    <a:pt x="58" y="20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43"/>
                    <a:pt x="53" y="48"/>
                    <a:pt x="47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0" y="51"/>
                    <a:pt x="0" y="53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1" y="57"/>
                    <a:pt x="56" y="55"/>
                    <a:pt x="60" y="52"/>
                  </a:cubicBezTo>
                  <a:cubicBezTo>
                    <a:pt x="64" y="48"/>
                    <a:pt x="67" y="41"/>
                    <a:pt x="67" y="37"/>
                  </a:cubicBezTo>
                  <a:lnTo>
                    <a:pt x="67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840127" y="-439346"/>
              <a:ext cx="109819" cy="98136"/>
            </a:xfrm>
            <a:custGeom>
              <a:avLst/>
              <a:gdLst>
                <a:gd name="T0" fmla="*/ 0 w 66"/>
                <a:gd name="T1" fmla="*/ 21 h 58"/>
                <a:gd name="T2" fmla="*/ 0 w 66"/>
                <a:gd name="T3" fmla="*/ 38 h 58"/>
                <a:gd name="T4" fmla="*/ 20 w 66"/>
                <a:gd name="T5" fmla="*/ 58 h 58"/>
                <a:gd name="T6" fmla="*/ 51 w 66"/>
                <a:gd name="T7" fmla="*/ 58 h 58"/>
                <a:gd name="T8" fmla="*/ 66 w 66"/>
                <a:gd name="T9" fmla="*/ 43 h 58"/>
                <a:gd name="T10" fmla="*/ 66 w 66"/>
                <a:gd name="T11" fmla="*/ 39 h 58"/>
                <a:gd name="T12" fmla="*/ 51 w 66"/>
                <a:gd name="T13" fmla="*/ 24 h 58"/>
                <a:gd name="T14" fmla="*/ 9 w 66"/>
                <a:gd name="T15" fmla="*/ 24 h 58"/>
                <a:gd name="T16" fmla="*/ 9 w 66"/>
                <a:gd name="T17" fmla="*/ 24 h 58"/>
                <a:gd name="T18" fmla="*/ 9 w 66"/>
                <a:gd name="T19" fmla="*/ 23 h 58"/>
                <a:gd name="T20" fmla="*/ 9 w 66"/>
                <a:gd name="T21" fmla="*/ 21 h 58"/>
                <a:gd name="T22" fmla="*/ 20 w 66"/>
                <a:gd name="T23" fmla="*/ 9 h 58"/>
                <a:gd name="T24" fmla="*/ 61 w 66"/>
                <a:gd name="T25" fmla="*/ 9 h 58"/>
                <a:gd name="T26" fmla="*/ 66 w 66"/>
                <a:gd name="T27" fmla="*/ 4 h 58"/>
                <a:gd name="T28" fmla="*/ 66 w 66"/>
                <a:gd name="T29" fmla="*/ 0 h 58"/>
                <a:gd name="T30" fmla="*/ 20 w 66"/>
                <a:gd name="T31" fmla="*/ 0 h 58"/>
                <a:gd name="T32" fmla="*/ 0 w 66"/>
                <a:gd name="T33" fmla="*/ 21 h 58"/>
                <a:gd name="T34" fmla="*/ 9 w 66"/>
                <a:gd name="T35" fmla="*/ 33 h 58"/>
                <a:gd name="T36" fmla="*/ 51 w 66"/>
                <a:gd name="T37" fmla="*/ 33 h 58"/>
                <a:gd name="T38" fmla="*/ 57 w 66"/>
                <a:gd name="T39" fmla="*/ 39 h 58"/>
                <a:gd name="T40" fmla="*/ 57 w 66"/>
                <a:gd name="T41" fmla="*/ 43 h 58"/>
                <a:gd name="T42" fmla="*/ 51 w 66"/>
                <a:gd name="T43" fmla="*/ 49 h 58"/>
                <a:gd name="T44" fmla="*/ 20 w 66"/>
                <a:gd name="T45" fmla="*/ 49 h 58"/>
                <a:gd name="T46" fmla="*/ 9 w 66"/>
                <a:gd name="T47" fmla="*/ 38 h 58"/>
                <a:gd name="T48" fmla="*/ 9 w 66"/>
                <a:gd name="T49" fmla="*/ 33 h 58"/>
                <a:gd name="T50" fmla="*/ 9 w 66"/>
                <a:gd name="T51" fmla="*/ 3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58">
                  <a:moveTo>
                    <a:pt x="0" y="21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9"/>
                    <a:pt x="9" y="58"/>
                    <a:pt x="20" y="58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9" y="58"/>
                    <a:pt x="66" y="51"/>
                    <a:pt x="66" y="43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31"/>
                    <a:pt x="59" y="24"/>
                    <a:pt x="51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14"/>
                    <a:pt x="14" y="9"/>
                    <a:pt x="20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3" y="9"/>
                    <a:pt x="66" y="7"/>
                    <a:pt x="66" y="4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1"/>
                  </a:cubicBezTo>
                  <a:close/>
                  <a:moveTo>
                    <a:pt x="9" y="33"/>
                  </a:moveTo>
                  <a:cubicBezTo>
                    <a:pt x="51" y="33"/>
                    <a:pt x="51" y="33"/>
                    <a:pt x="51" y="33"/>
                  </a:cubicBezTo>
                  <a:cubicBezTo>
                    <a:pt x="54" y="33"/>
                    <a:pt x="57" y="35"/>
                    <a:pt x="57" y="39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7"/>
                    <a:pt x="54" y="49"/>
                    <a:pt x="51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4" y="49"/>
                    <a:pt x="9" y="44"/>
                    <a:pt x="9" y="3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7961629" y="-439346"/>
              <a:ext cx="109819" cy="98136"/>
            </a:xfrm>
            <a:custGeom>
              <a:avLst/>
              <a:gdLst>
                <a:gd name="T0" fmla="*/ 0 w 66"/>
                <a:gd name="T1" fmla="*/ 38 h 58"/>
                <a:gd name="T2" fmla="*/ 20 w 66"/>
                <a:gd name="T3" fmla="*/ 58 h 58"/>
                <a:gd name="T4" fmla="*/ 46 w 66"/>
                <a:gd name="T5" fmla="*/ 58 h 58"/>
                <a:gd name="T6" fmla="*/ 66 w 66"/>
                <a:gd name="T7" fmla="*/ 38 h 58"/>
                <a:gd name="T8" fmla="*/ 66 w 66"/>
                <a:gd name="T9" fmla="*/ 21 h 58"/>
                <a:gd name="T10" fmla="*/ 46 w 66"/>
                <a:gd name="T11" fmla="*/ 0 h 58"/>
                <a:gd name="T12" fmla="*/ 20 w 66"/>
                <a:gd name="T13" fmla="*/ 0 h 58"/>
                <a:gd name="T14" fmla="*/ 0 w 66"/>
                <a:gd name="T15" fmla="*/ 21 h 58"/>
                <a:gd name="T16" fmla="*/ 0 w 66"/>
                <a:gd name="T17" fmla="*/ 38 h 58"/>
                <a:gd name="T18" fmla="*/ 9 w 66"/>
                <a:gd name="T19" fmla="*/ 21 h 58"/>
                <a:gd name="T20" fmla="*/ 20 w 66"/>
                <a:gd name="T21" fmla="*/ 9 h 58"/>
                <a:gd name="T22" fmla="*/ 46 w 66"/>
                <a:gd name="T23" fmla="*/ 9 h 58"/>
                <a:gd name="T24" fmla="*/ 57 w 66"/>
                <a:gd name="T25" fmla="*/ 21 h 58"/>
                <a:gd name="T26" fmla="*/ 57 w 66"/>
                <a:gd name="T27" fmla="*/ 38 h 58"/>
                <a:gd name="T28" fmla="*/ 46 w 66"/>
                <a:gd name="T29" fmla="*/ 49 h 58"/>
                <a:gd name="T30" fmla="*/ 20 w 66"/>
                <a:gd name="T31" fmla="*/ 49 h 58"/>
                <a:gd name="T32" fmla="*/ 9 w 66"/>
                <a:gd name="T33" fmla="*/ 38 h 58"/>
                <a:gd name="T34" fmla="*/ 9 w 66"/>
                <a:gd name="T35" fmla="*/ 2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58">
                  <a:moveTo>
                    <a:pt x="0" y="38"/>
                  </a:moveTo>
                  <a:cubicBezTo>
                    <a:pt x="0" y="49"/>
                    <a:pt x="9" y="58"/>
                    <a:pt x="20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7" y="58"/>
                    <a:pt x="66" y="49"/>
                    <a:pt x="66" y="38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9"/>
                    <a:pt x="57" y="0"/>
                    <a:pt x="4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1"/>
                  </a:cubicBezTo>
                  <a:lnTo>
                    <a:pt x="0" y="38"/>
                  </a:lnTo>
                  <a:close/>
                  <a:moveTo>
                    <a:pt x="9" y="21"/>
                  </a:moveTo>
                  <a:cubicBezTo>
                    <a:pt x="9" y="14"/>
                    <a:pt x="14" y="9"/>
                    <a:pt x="20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52" y="9"/>
                    <a:pt x="57" y="14"/>
                    <a:pt x="57" y="21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7" y="44"/>
                    <a:pt x="52" y="49"/>
                    <a:pt x="46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4" y="49"/>
                    <a:pt x="9" y="44"/>
                    <a:pt x="9" y="38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10"/>
            <p:cNvSpPr/>
            <p:nvPr userDrawn="1"/>
          </p:nvSpPr>
          <p:spPr bwMode="auto">
            <a:xfrm>
              <a:off x="8465550" y="-439346"/>
              <a:ext cx="115271" cy="30376"/>
            </a:xfrm>
            <a:custGeom>
              <a:avLst/>
              <a:gdLst>
                <a:gd name="T0" fmla="*/ 6 w 69"/>
                <a:gd name="T1" fmla="*/ 18 h 18"/>
                <a:gd name="T2" fmla="*/ 13 w 69"/>
                <a:gd name="T3" fmla="*/ 15 h 18"/>
                <a:gd name="T4" fmla="*/ 17 w 69"/>
                <a:gd name="T5" fmla="*/ 11 h 18"/>
                <a:gd name="T6" fmla="*/ 19 w 69"/>
                <a:gd name="T7" fmla="*/ 9 h 18"/>
                <a:gd name="T8" fmla="*/ 26 w 69"/>
                <a:gd name="T9" fmla="*/ 8 h 18"/>
                <a:gd name="T10" fmla="*/ 45 w 69"/>
                <a:gd name="T11" fmla="*/ 8 h 18"/>
                <a:gd name="T12" fmla="*/ 49 w 69"/>
                <a:gd name="T13" fmla="*/ 9 h 18"/>
                <a:gd name="T14" fmla="*/ 52 w 69"/>
                <a:gd name="T15" fmla="*/ 11 h 18"/>
                <a:gd name="T16" fmla="*/ 56 w 69"/>
                <a:gd name="T17" fmla="*/ 15 h 18"/>
                <a:gd name="T18" fmla="*/ 63 w 69"/>
                <a:gd name="T19" fmla="*/ 18 h 18"/>
                <a:gd name="T20" fmla="*/ 68 w 69"/>
                <a:gd name="T21" fmla="*/ 18 h 18"/>
                <a:gd name="T22" fmla="*/ 69 w 69"/>
                <a:gd name="T23" fmla="*/ 18 h 18"/>
                <a:gd name="T24" fmla="*/ 69 w 69"/>
                <a:gd name="T25" fmla="*/ 11 h 18"/>
                <a:gd name="T26" fmla="*/ 68 w 69"/>
                <a:gd name="T27" fmla="*/ 11 h 18"/>
                <a:gd name="T28" fmla="*/ 63 w 69"/>
                <a:gd name="T29" fmla="*/ 11 h 18"/>
                <a:gd name="T30" fmla="*/ 60 w 69"/>
                <a:gd name="T31" fmla="*/ 9 h 18"/>
                <a:gd name="T32" fmla="*/ 57 w 69"/>
                <a:gd name="T33" fmla="*/ 4 h 18"/>
                <a:gd name="T34" fmla="*/ 54 w 69"/>
                <a:gd name="T35" fmla="*/ 2 h 18"/>
                <a:gd name="T36" fmla="*/ 45 w 69"/>
                <a:gd name="T37" fmla="*/ 0 h 18"/>
                <a:gd name="T38" fmla="*/ 22 w 69"/>
                <a:gd name="T39" fmla="*/ 0 h 18"/>
                <a:gd name="T40" fmla="*/ 12 w 69"/>
                <a:gd name="T41" fmla="*/ 4 h 18"/>
                <a:gd name="T42" fmla="*/ 8 w 69"/>
                <a:gd name="T43" fmla="*/ 9 h 18"/>
                <a:gd name="T44" fmla="*/ 1 w 69"/>
                <a:gd name="T45" fmla="*/ 11 h 18"/>
                <a:gd name="T46" fmla="*/ 0 w 69"/>
                <a:gd name="T47" fmla="*/ 11 h 18"/>
                <a:gd name="T48" fmla="*/ 0 w 69"/>
                <a:gd name="T49" fmla="*/ 18 h 18"/>
                <a:gd name="T50" fmla="*/ 1 w 69"/>
                <a:gd name="T51" fmla="*/ 18 h 18"/>
                <a:gd name="T52" fmla="*/ 6 w 69"/>
                <a:gd name="T5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9" h="18">
                  <a:moveTo>
                    <a:pt x="6" y="18"/>
                  </a:moveTo>
                  <a:cubicBezTo>
                    <a:pt x="9" y="18"/>
                    <a:pt x="11" y="17"/>
                    <a:pt x="13" y="15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0"/>
                    <a:pt x="18" y="9"/>
                    <a:pt x="19" y="9"/>
                  </a:cubicBezTo>
                  <a:cubicBezTo>
                    <a:pt x="20" y="8"/>
                    <a:pt x="22" y="8"/>
                    <a:pt x="26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6" y="8"/>
                    <a:pt x="48" y="8"/>
                    <a:pt x="49" y="9"/>
                  </a:cubicBezTo>
                  <a:cubicBezTo>
                    <a:pt x="50" y="9"/>
                    <a:pt x="51" y="10"/>
                    <a:pt x="52" y="11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8" y="17"/>
                    <a:pt x="60" y="18"/>
                    <a:pt x="63" y="18"/>
                  </a:cubicBezTo>
                  <a:cubicBezTo>
                    <a:pt x="64" y="18"/>
                    <a:pt x="66" y="18"/>
                    <a:pt x="68" y="18"/>
                  </a:cubicBezTo>
                  <a:cubicBezTo>
                    <a:pt x="69" y="18"/>
                    <a:pt x="69" y="18"/>
                    <a:pt x="69" y="18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6" y="11"/>
                    <a:pt x="64" y="11"/>
                    <a:pt x="63" y="11"/>
                  </a:cubicBezTo>
                  <a:cubicBezTo>
                    <a:pt x="62" y="10"/>
                    <a:pt x="61" y="10"/>
                    <a:pt x="60" y="9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6" y="3"/>
                    <a:pt x="55" y="2"/>
                    <a:pt x="54" y="2"/>
                  </a:cubicBezTo>
                  <a:cubicBezTo>
                    <a:pt x="52" y="1"/>
                    <a:pt x="49" y="0"/>
                    <a:pt x="4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4" y="2"/>
                    <a:pt x="12" y="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7" y="11"/>
                    <a:pt x="5" y="11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4" y="18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11"/>
            <p:cNvSpPr/>
            <p:nvPr userDrawn="1"/>
          </p:nvSpPr>
          <p:spPr bwMode="auto">
            <a:xfrm>
              <a:off x="8465550" y="-407413"/>
              <a:ext cx="115271" cy="69319"/>
            </a:xfrm>
            <a:custGeom>
              <a:avLst/>
              <a:gdLst>
                <a:gd name="T0" fmla="*/ 38 w 69"/>
                <a:gd name="T1" fmla="*/ 33 h 41"/>
                <a:gd name="T2" fmla="*/ 38 w 69"/>
                <a:gd name="T3" fmla="*/ 23 h 41"/>
                <a:gd name="T4" fmla="*/ 62 w 69"/>
                <a:gd name="T5" fmla="*/ 23 h 41"/>
                <a:gd name="T6" fmla="*/ 67 w 69"/>
                <a:gd name="T7" fmla="*/ 19 h 41"/>
                <a:gd name="T8" fmla="*/ 67 w 69"/>
                <a:gd name="T9" fmla="*/ 15 h 41"/>
                <a:gd name="T10" fmla="*/ 38 w 69"/>
                <a:gd name="T11" fmla="*/ 15 h 41"/>
                <a:gd name="T12" fmla="*/ 38 w 69"/>
                <a:gd name="T13" fmla="*/ 8 h 41"/>
                <a:gd name="T14" fmla="*/ 62 w 69"/>
                <a:gd name="T15" fmla="*/ 8 h 41"/>
                <a:gd name="T16" fmla="*/ 67 w 69"/>
                <a:gd name="T17" fmla="*/ 3 h 41"/>
                <a:gd name="T18" fmla="*/ 67 w 69"/>
                <a:gd name="T19" fmla="*/ 0 h 41"/>
                <a:gd name="T20" fmla="*/ 2 w 69"/>
                <a:gd name="T21" fmla="*/ 0 h 41"/>
                <a:gd name="T22" fmla="*/ 2 w 69"/>
                <a:gd name="T23" fmla="*/ 8 h 41"/>
                <a:gd name="T24" fmla="*/ 30 w 69"/>
                <a:gd name="T25" fmla="*/ 8 h 41"/>
                <a:gd name="T26" fmla="*/ 30 w 69"/>
                <a:gd name="T27" fmla="*/ 15 h 41"/>
                <a:gd name="T28" fmla="*/ 2 w 69"/>
                <a:gd name="T29" fmla="*/ 15 h 41"/>
                <a:gd name="T30" fmla="*/ 2 w 69"/>
                <a:gd name="T31" fmla="*/ 23 h 41"/>
                <a:gd name="T32" fmla="*/ 30 w 69"/>
                <a:gd name="T33" fmla="*/ 23 h 41"/>
                <a:gd name="T34" fmla="*/ 30 w 69"/>
                <a:gd name="T35" fmla="*/ 33 h 41"/>
                <a:gd name="T36" fmla="*/ 0 w 69"/>
                <a:gd name="T37" fmla="*/ 33 h 41"/>
                <a:gd name="T38" fmla="*/ 0 w 69"/>
                <a:gd name="T39" fmla="*/ 41 h 41"/>
                <a:gd name="T40" fmla="*/ 65 w 69"/>
                <a:gd name="T41" fmla="*/ 41 h 41"/>
                <a:gd name="T42" fmla="*/ 69 w 69"/>
                <a:gd name="T43" fmla="*/ 37 h 41"/>
                <a:gd name="T44" fmla="*/ 69 w 69"/>
                <a:gd name="T45" fmla="*/ 33 h 41"/>
                <a:gd name="T46" fmla="*/ 38 w 69"/>
                <a:gd name="T47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9" h="41">
                  <a:moveTo>
                    <a:pt x="38" y="3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5" y="23"/>
                    <a:pt x="67" y="21"/>
                    <a:pt x="67" y="19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5" y="8"/>
                    <a:pt x="67" y="6"/>
                    <a:pt x="67" y="3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7" y="41"/>
                    <a:pt x="69" y="39"/>
                    <a:pt x="69" y="37"/>
                  </a:cubicBezTo>
                  <a:cubicBezTo>
                    <a:pt x="69" y="33"/>
                    <a:pt x="69" y="33"/>
                    <a:pt x="69" y="33"/>
                  </a:cubicBezTo>
                  <a:lnTo>
                    <a:pt x="38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12"/>
            <p:cNvSpPr/>
            <p:nvPr userDrawn="1"/>
          </p:nvSpPr>
          <p:spPr bwMode="auto">
            <a:xfrm>
              <a:off x="8339375" y="-439346"/>
              <a:ext cx="112935" cy="27260"/>
            </a:xfrm>
            <a:custGeom>
              <a:avLst/>
              <a:gdLst>
                <a:gd name="T0" fmla="*/ 7 w 68"/>
                <a:gd name="T1" fmla="*/ 13 h 16"/>
                <a:gd name="T2" fmla="*/ 8 w 68"/>
                <a:gd name="T3" fmla="*/ 11 h 16"/>
                <a:gd name="T4" fmla="*/ 13 w 68"/>
                <a:gd name="T5" fmla="*/ 10 h 16"/>
                <a:gd name="T6" fmla="*/ 57 w 68"/>
                <a:gd name="T7" fmla="*/ 10 h 16"/>
                <a:gd name="T8" fmla="*/ 60 w 68"/>
                <a:gd name="T9" fmla="*/ 12 h 16"/>
                <a:gd name="T10" fmla="*/ 61 w 68"/>
                <a:gd name="T11" fmla="*/ 13 h 16"/>
                <a:gd name="T12" fmla="*/ 61 w 68"/>
                <a:gd name="T13" fmla="*/ 16 h 16"/>
                <a:gd name="T14" fmla="*/ 68 w 68"/>
                <a:gd name="T15" fmla="*/ 16 h 16"/>
                <a:gd name="T16" fmla="*/ 68 w 68"/>
                <a:gd name="T17" fmla="*/ 12 h 16"/>
                <a:gd name="T18" fmla="*/ 65 w 68"/>
                <a:gd name="T19" fmla="*/ 6 h 16"/>
                <a:gd name="T20" fmla="*/ 57 w 68"/>
                <a:gd name="T21" fmla="*/ 4 h 16"/>
                <a:gd name="T22" fmla="*/ 38 w 68"/>
                <a:gd name="T23" fmla="*/ 4 h 16"/>
                <a:gd name="T24" fmla="*/ 38 w 68"/>
                <a:gd name="T25" fmla="*/ 0 h 16"/>
                <a:gd name="T26" fmla="*/ 30 w 68"/>
                <a:gd name="T27" fmla="*/ 0 h 16"/>
                <a:gd name="T28" fmla="*/ 30 w 68"/>
                <a:gd name="T29" fmla="*/ 4 h 16"/>
                <a:gd name="T30" fmla="*/ 10 w 68"/>
                <a:gd name="T31" fmla="*/ 4 h 16"/>
                <a:gd name="T32" fmla="*/ 3 w 68"/>
                <a:gd name="T33" fmla="*/ 6 h 16"/>
                <a:gd name="T34" fmla="*/ 0 w 68"/>
                <a:gd name="T35" fmla="*/ 12 h 16"/>
                <a:gd name="T36" fmla="*/ 0 w 68"/>
                <a:gd name="T37" fmla="*/ 16 h 16"/>
                <a:gd name="T38" fmla="*/ 7 w 68"/>
                <a:gd name="T39" fmla="*/ 16 h 16"/>
                <a:gd name="T40" fmla="*/ 7 w 68"/>
                <a:gd name="T41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" h="16">
                  <a:moveTo>
                    <a:pt x="7" y="13"/>
                  </a:moveTo>
                  <a:cubicBezTo>
                    <a:pt x="7" y="12"/>
                    <a:pt x="8" y="11"/>
                    <a:pt x="8" y="11"/>
                  </a:cubicBezTo>
                  <a:cubicBezTo>
                    <a:pt x="9" y="11"/>
                    <a:pt x="11" y="10"/>
                    <a:pt x="13" y="10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9" y="11"/>
                    <a:pt x="60" y="12"/>
                  </a:cubicBezTo>
                  <a:cubicBezTo>
                    <a:pt x="61" y="12"/>
                    <a:pt x="61" y="13"/>
                    <a:pt x="61" y="13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9"/>
                    <a:pt x="67" y="7"/>
                    <a:pt x="65" y="6"/>
                  </a:cubicBezTo>
                  <a:cubicBezTo>
                    <a:pt x="63" y="4"/>
                    <a:pt x="61" y="4"/>
                    <a:pt x="5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7" y="4"/>
                    <a:pt x="5" y="4"/>
                    <a:pt x="3" y="6"/>
                  </a:cubicBezTo>
                  <a:cubicBezTo>
                    <a:pt x="1" y="7"/>
                    <a:pt x="0" y="9"/>
                    <a:pt x="0" y="1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6"/>
                    <a:pt x="7" y="16"/>
                    <a:pt x="7" y="16"/>
                  </a:cubicBez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13"/>
            <p:cNvSpPr>
              <a:spLocks noEditPoints="1"/>
            </p:cNvSpPr>
            <p:nvPr userDrawn="1"/>
          </p:nvSpPr>
          <p:spPr bwMode="auto">
            <a:xfrm>
              <a:off x="8339375" y="-410528"/>
              <a:ext cx="112935" cy="70876"/>
            </a:xfrm>
            <a:custGeom>
              <a:avLst/>
              <a:gdLst>
                <a:gd name="T0" fmla="*/ 64 w 68"/>
                <a:gd name="T1" fmla="*/ 36 h 42"/>
                <a:gd name="T2" fmla="*/ 53 w 68"/>
                <a:gd name="T3" fmla="*/ 35 h 42"/>
                <a:gd name="T4" fmla="*/ 43 w 68"/>
                <a:gd name="T5" fmla="*/ 33 h 42"/>
                <a:gd name="T6" fmla="*/ 55 w 68"/>
                <a:gd name="T7" fmla="*/ 29 h 42"/>
                <a:gd name="T8" fmla="*/ 58 w 68"/>
                <a:gd name="T9" fmla="*/ 26 h 42"/>
                <a:gd name="T10" fmla="*/ 62 w 68"/>
                <a:gd name="T11" fmla="*/ 16 h 42"/>
                <a:gd name="T12" fmla="*/ 62 w 68"/>
                <a:gd name="T13" fmla="*/ 12 h 42"/>
                <a:gd name="T14" fmla="*/ 65 w 68"/>
                <a:gd name="T15" fmla="*/ 12 h 42"/>
                <a:gd name="T16" fmla="*/ 68 w 68"/>
                <a:gd name="T17" fmla="*/ 8 h 42"/>
                <a:gd name="T18" fmla="*/ 68 w 68"/>
                <a:gd name="T19" fmla="*/ 5 h 42"/>
                <a:gd name="T20" fmla="*/ 62 w 68"/>
                <a:gd name="T21" fmla="*/ 5 h 42"/>
                <a:gd name="T22" fmla="*/ 62 w 68"/>
                <a:gd name="T23" fmla="*/ 0 h 42"/>
                <a:gd name="T24" fmla="*/ 55 w 68"/>
                <a:gd name="T25" fmla="*/ 0 h 42"/>
                <a:gd name="T26" fmla="*/ 55 w 68"/>
                <a:gd name="T27" fmla="*/ 5 h 42"/>
                <a:gd name="T28" fmla="*/ 13 w 68"/>
                <a:gd name="T29" fmla="*/ 5 h 42"/>
                <a:gd name="T30" fmla="*/ 13 w 68"/>
                <a:gd name="T31" fmla="*/ 0 h 42"/>
                <a:gd name="T32" fmla="*/ 6 w 68"/>
                <a:gd name="T33" fmla="*/ 0 h 42"/>
                <a:gd name="T34" fmla="*/ 6 w 68"/>
                <a:gd name="T35" fmla="*/ 5 h 42"/>
                <a:gd name="T36" fmla="*/ 0 w 68"/>
                <a:gd name="T37" fmla="*/ 5 h 42"/>
                <a:gd name="T38" fmla="*/ 0 w 68"/>
                <a:gd name="T39" fmla="*/ 12 h 42"/>
                <a:gd name="T40" fmla="*/ 6 w 68"/>
                <a:gd name="T41" fmla="*/ 12 h 42"/>
                <a:gd name="T42" fmla="*/ 6 w 68"/>
                <a:gd name="T43" fmla="*/ 18 h 42"/>
                <a:gd name="T44" fmla="*/ 9 w 68"/>
                <a:gd name="T45" fmla="*/ 25 h 42"/>
                <a:gd name="T46" fmla="*/ 16 w 68"/>
                <a:gd name="T47" fmla="*/ 30 h 42"/>
                <a:gd name="T48" fmla="*/ 25 w 68"/>
                <a:gd name="T49" fmla="*/ 33 h 42"/>
                <a:gd name="T50" fmla="*/ 12 w 68"/>
                <a:gd name="T51" fmla="*/ 35 h 42"/>
                <a:gd name="T52" fmla="*/ 0 w 68"/>
                <a:gd name="T53" fmla="*/ 36 h 42"/>
                <a:gd name="T54" fmla="*/ 0 w 68"/>
                <a:gd name="T55" fmla="*/ 36 h 42"/>
                <a:gd name="T56" fmla="*/ 0 w 68"/>
                <a:gd name="T57" fmla="*/ 42 h 42"/>
                <a:gd name="T58" fmla="*/ 0 w 68"/>
                <a:gd name="T59" fmla="*/ 42 h 42"/>
                <a:gd name="T60" fmla="*/ 27 w 68"/>
                <a:gd name="T61" fmla="*/ 39 h 42"/>
                <a:gd name="T62" fmla="*/ 34 w 68"/>
                <a:gd name="T63" fmla="*/ 37 h 42"/>
                <a:gd name="T64" fmla="*/ 41 w 68"/>
                <a:gd name="T65" fmla="*/ 39 h 42"/>
                <a:gd name="T66" fmla="*/ 54 w 68"/>
                <a:gd name="T67" fmla="*/ 42 h 42"/>
                <a:gd name="T68" fmla="*/ 68 w 68"/>
                <a:gd name="T69" fmla="*/ 42 h 42"/>
                <a:gd name="T70" fmla="*/ 68 w 68"/>
                <a:gd name="T71" fmla="*/ 42 h 42"/>
                <a:gd name="T72" fmla="*/ 68 w 68"/>
                <a:gd name="T73" fmla="*/ 36 h 42"/>
                <a:gd name="T74" fmla="*/ 68 w 68"/>
                <a:gd name="T75" fmla="*/ 36 h 42"/>
                <a:gd name="T76" fmla="*/ 64 w 68"/>
                <a:gd name="T77" fmla="*/ 36 h 42"/>
                <a:gd name="T78" fmla="*/ 55 w 68"/>
                <a:gd name="T79" fmla="*/ 16 h 42"/>
                <a:gd name="T80" fmla="*/ 49 w 68"/>
                <a:gd name="T81" fmla="*/ 24 h 42"/>
                <a:gd name="T82" fmla="*/ 34 w 68"/>
                <a:gd name="T83" fmla="*/ 30 h 42"/>
                <a:gd name="T84" fmla="*/ 19 w 68"/>
                <a:gd name="T85" fmla="*/ 24 h 42"/>
                <a:gd name="T86" fmla="*/ 15 w 68"/>
                <a:gd name="T87" fmla="*/ 21 h 42"/>
                <a:gd name="T88" fmla="*/ 14 w 68"/>
                <a:gd name="T89" fmla="*/ 17 h 42"/>
                <a:gd name="T90" fmla="*/ 13 w 68"/>
                <a:gd name="T91" fmla="*/ 12 h 42"/>
                <a:gd name="T92" fmla="*/ 55 w 68"/>
                <a:gd name="T93" fmla="*/ 12 h 42"/>
                <a:gd name="T94" fmla="*/ 55 w 68"/>
                <a:gd name="T95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8" h="42">
                  <a:moveTo>
                    <a:pt x="64" y="36"/>
                  </a:moveTo>
                  <a:cubicBezTo>
                    <a:pt x="59" y="36"/>
                    <a:pt x="56" y="35"/>
                    <a:pt x="53" y="35"/>
                  </a:cubicBezTo>
                  <a:cubicBezTo>
                    <a:pt x="50" y="35"/>
                    <a:pt x="47" y="34"/>
                    <a:pt x="43" y="33"/>
                  </a:cubicBezTo>
                  <a:cubicBezTo>
                    <a:pt x="50" y="30"/>
                    <a:pt x="54" y="29"/>
                    <a:pt x="55" y="29"/>
                  </a:cubicBezTo>
                  <a:cubicBezTo>
                    <a:pt x="56" y="28"/>
                    <a:pt x="57" y="27"/>
                    <a:pt x="58" y="26"/>
                  </a:cubicBezTo>
                  <a:cubicBezTo>
                    <a:pt x="61" y="24"/>
                    <a:pt x="62" y="21"/>
                    <a:pt x="62" y="16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7" y="12"/>
                    <a:pt x="68" y="10"/>
                    <a:pt x="68" y="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21"/>
                    <a:pt x="7" y="24"/>
                    <a:pt x="9" y="25"/>
                  </a:cubicBezTo>
                  <a:cubicBezTo>
                    <a:pt x="11" y="27"/>
                    <a:pt x="14" y="29"/>
                    <a:pt x="16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1" y="34"/>
                    <a:pt x="17" y="35"/>
                    <a:pt x="12" y="35"/>
                  </a:cubicBezTo>
                  <a:cubicBezTo>
                    <a:pt x="9" y="35"/>
                    <a:pt x="5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2" y="42"/>
                    <a:pt x="21" y="41"/>
                    <a:pt x="27" y="39"/>
                  </a:cubicBezTo>
                  <a:cubicBezTo>
                    <a:pt x="28" y="39"/>
                    <a:pt x="31" y="38"/>
                    <a:pt x="34" y="37"/>
                  </a:cubicBezTo>
                  <a:cubicBezTo>
                    <a:pt x="37" y="38"/>
                    <a:pt x="39" y="39"/>
                    <a:pt x="41" y="39"/>
                  </a:cubicBezTo>
                  <a:cubicBezTo>
                    <a:pt x="44" y="40"/>
                    <a:pt x="49" y="41"/>
                    <a:pt x="54" y="42"/>
                  </a:cubicBezTo>
                  <a:cubicBezTo>
                    <a:pt x="58" y="42"/>
                    <a:pt x="63" y="42"/>
                    <a:pt x="68" y="42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6" y="36"/>
                    <a:pt x="64" y="36"/>
                    <a:pt x="64" y="36"/>
                  </a:cubicBezTo>
                  <a:close/>
                  <a:moveTo>
                    <a:pt x="55" y="16"/>
                  </a:moveTo>
                  <a:cubicBezTo>
                    <a:pt x="55" y="20"/>
                    <a:pt x="53" y="22"/>
                    <a:pt x="49" y="24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7" y="23"/>
                    <a:pt x="16" y="22"/>
                    <a:pt x="15" y="21"/>
                  </a:cubicBezTo>
                  <a:cubicBezTo>
                    <a:pt x="14" y="20"/>
                    <a:pt x="14" y="19"/>
                    <a:pt x="14" y="17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55" y="12"/>
                    <a:pt x="55" y="12"/>
                    <a:pt x="55" y="12"/>
                  </a:cubicBezTo>
                  <a:lnTo>
                    <a:pt x="5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14"/>
            <p:cNvSpPr/>
            <p:nvPr userDrawn="1"/>
          </p:nvSpPr>
          <p:spPr bwMode="auto">
            <a:xfrm>
              <a:off x="8081573" y="-437788"/>
              <a:ext cx="56078" cy="98136"/>
            </a:xfrm>
            <a:custGeom>
              <a:avLst/>
              <a:gdLst>
                <a:gd name="T0" fmla="*/ 0 w 34"/>
                <a:gd name="T1" fmla="*/ 7 h 58"/>
                <a:gd name="T2" fmla="*/ 14 w 34"/>
                <a:gd name="T3" fmla="*/ 7 h 58"/>
                <a:gd name="T4" fmla="*/ 14 w 34"/>
                <a:gd name="T5" fmla="*/ 51 h 58"/>
                <a:gd name="T6" fmla="*/ 9 w 34"/>
                <a:gd name="T7" fmla="*/ 51 h 58"/>
                <a:gd name="T8" fmla="*/ 9 w 34"/>
                <a:gd name="T9" fmla="*/ 15 h 58"/>
                <a:gd name="T10" fmla="*/ 2 w 34"/>
                <a:gd name="T11" fmla="*/ 15 h 58"/>
                <a:gd name="T12" fmla="*/ 2 w 34"/>
                <a:gd name="T13" fmla="*/ 51 h 58"/>
                <a:gd name="T14" fmla="*/ 0 w 34"/>
                <a:gd name="T15" fmla="*/ 51 h 58"/>
                <a:gd name="T16" fmla="*/ 0 w 34"/>
                <a:gd name="T17" fmla="*/ 58 h 58"/>
                <a:gd name="T18" fmla="*/ 27 w 34"/>
                <a:gd name="T19" fmla="*/ 58 h 58"/>
                <a:gd name="T20" fmla="*/ 34 w 34"/>
                <a:gd name="T21" fmla="*/ 51 h 58"/>
                <a:gd name="T22" fmla="*/ 34 w 34"/>
                <a:gd name="T23" fmla="*/ 51 h 58"/>
                <a:gd name="T24" fmla="*/ 21 w 34"/>
                <a:gd name="T25" fmla="*/ 51 h 58"/>
                <a:gd name="T26" fmla="*/ 21 w 34"/>
                <a:gd name="T27" fmla="*/ 29 h 58"/>
                <a:gd name="T28" fmla="*/ 34 w 34"/>
                <a:gd name="T29" fmla="*/ 29 h 58"/>
                <a:gd name="T30" fmla="*/ 34 w 34"/>
                <a:gd name="T31" fmla="*/ 22 h 58"/>
                <a:gd name="T32" fmla="*/ 21 w 34"/>
                <a:gd name="T33" fmla="*/ 22 h 58"/>
                <a:gd name="T34" fmla="*/ 21 w 34"/>
                <a:gd name="T35" fmla="*/ 7 h 58"/>
                <a:gd name="T36" fmla="*/ 27 w 34"/>
                <a:gd name="T37" fmla="*/ 7 h 58"/>
                <a:gd name="T38" fmla="*/ 34 w 34"/>
                <a:gd name="T39" fmla="*/ 1 h 58"/>
                <a:gd name="T40" fmla="*/ 34 w 34"/>
                <a:gd name="T41" fmla="*/ 0 h 58"/>
                <a:gd name="T42" fmla="*/ 0 w 34"/>
                <a:gd name="T43" fmla="*/ 0 h 58"/>
                <a:gd name="T44" fmla="*/ 0 w 34"/>
                <a:gd name="T45" fmla="*/ 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58">
                  <a:moveTo>
                    <a:pt x="0" y="7"/>
                  </a:moveTo>
                  <a:cubicBezTo>
                    <a:pt x="14" y="7"/>
                    <a:pt x="14" y="7"/>
                    <a:pt x="14" y="7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1" y="58"/>
                    <a:pt x="34" y="55"/>
                    <a:pt x="34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1" y="7"/>
                    <a:pt x="34" y="4"/>
                    <a:pt x="34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15"/>
            <p:cNvSpPr/>
            <p:nvPr userDrawn="1"/>
          </p:nvSpPr>
          <p:spPr bwMode="auto">
            <a:xfrm>
              <a:off x="8137651" y="-440903"/>
              <a:ext cx="58415" cy="101252"/>
            </a:xfrm>
            <a:custGeom>
              <a:avLst/>
              <a:gdLst>
                <a:gd name="T0" fmla="*/ 30 w 35"/>
                <a:gd name="T1" fmla="*/ 29 h 60"/>
                <a:gd name="T2" fmla="*/ 32 w 35"/>
                <a:gd name="T3" fmla="*/ 12 h 60"/>
                <a:gd name="T4" fmla="*/ 35 w 35"/>
                <a:gd name="T5" fmla="*/ 12 h 60"/>
                <a:gd name="T6" fmla="*/ 35 w 35"/>
                <a:gd name="T7" fmla="*/ 5 h 60"/>
                <a:gd name="T8" fmla="*/ 14 w 35"/>
                <a:gd name="T9" fmla="*/ 5 h 60"/>
                <a:gd name="T10" fmla="*/ 15 w 35"/>
                <a:gd name="T11" fmla="*/ 0 h 60"/>
                <a:gd name="T12" fmla="*/ 7 w 35"/>
                <a:gd name="T13" fmla="*/ 0 h 60"/>
                <a:gd name="T14" fmla="*/ 7 w 35"/>
                <a:gd name="T15" fmla="*/ 1 h 60"/>
                <a:gd name="T16" fmla="*/ 3 w 35"/>
                <a:gd name="T17" fmla="*/ 12 h 60"/>
                <a:gd name="T18" fmla="*/ 1 w 35"/>
                <a:gd name="T19" fmla="*/ 14 h 60"/>
                <a:gd name="T20" fmla="*/ 0 w 35"/>
                <a:gd name="T21" fmla="*/ 14 h 60"/>
                <a:gd name="T22" fmla="*/ 0 w 35"/>
                <a:gd name="T23" fmla="*/ 21 h 60"/>
                <a:gd name="T24" fmla="*/ 1 w 35"/>
                <a:gd name="T25" fmla="*/ 21 h 60"/>
                <a:gd name="T26" fmla="*/ 8 w 35"/>
                <a:gd name="T27" fmla="*/ 18 h 60"/>
                <a:gd name="T28" fmla="*/ 12 w 35"/>
                <a:gd name="T29" fmla="*/ 12 h 60"/>
                <a:gd name="T30" fmla="*/ 24 w 35"/>
                <a:gd name="T31" fmla="*/ 12 h 60"/>
                <a:gd name="T32" fmla="*/ 23 w 35"/>
                <a:gd name="T33" fmla="*/ 29 h 60"/>
                <a:gd name="T34" fmla="*/ 19 w 35"/>
                <a:gd name="T35" fmla="*/ 40 h 60"/>
                <a:gd name="T36" fmla="*/ 15 w 35"/>
                <a:gd name="T37" fmla="*/ 32 h 60"/>
                <a:gd name="T38" fmla="*/ 12 w 35"/>
                <a:gd name="T39" fmla="*/ 20 h 60"/>
                <a:gd name="T40" fmla="*/ 12 w 35"/>
                <a:gd name="T41" fmla="*/ 20 h 60"/>
                <a:gd name="T42" fmla="*/ 5 w 35"/>
                <a:gd name="T43" fmla="*/ 20 h 60"/>
                <a:gd name="T44" fmla="*/ 5 w 35"/>
                <a:gd name="T45" fmla="*/ 20 h 60"/>
                <a:gd name="T46" fmla="*/ 11 w 35"/>
                <a:gd name="T47" fmla="*/ 40 h 60"/>
                <a:gd name="T48" fmla="*/ 14 w 35"/>
                <a:gd name="T49" fmla="*/ 46 h 60"/>
                <a:gd name="T50" fmla="*/ 3 w 35"/>
                <a:gd name="T51" fmla="*/ 53 h 60"/>
                <a:gd name="T52" fmla="*/ 3 w 35"/>
                <a:gd name="T53" fmla="*/ 53 h 60"/>
                <a:gd name="T54" fmla="*/ 3 w 35"/>
                <a:gd name="T55" fmla="*/ 60 h 60"/>
                <a:gd name="T56" fmla="*/ 3 w 35"/>
                <a:gd name="T57" fmla="*/ 60 h 60"/>
                <a:gd name="T58" fmla="*/ 11 w 35"/>
                <a:gd name="T59" fmla="*/ 57 h 60"/>
                <a:gd name="T60" fmla="*/ 19 w 35"/>
                <a:gd name="T61" fmla="*/ 51 h 60"/>
                <a:gd name="T62" fmla="*/ 25 w 35"/>
                <a:gd name="T63" fmla="*/ 55 h 60"/>
                <a:gd name="T64" fmla="*/ 34 w 35"/>
                <a:gd name="T65" fmla="*/ 60 h 60"/>
                <a:gd name="T66" fmla="*/ 35 w 35"/>
                <a:gd name="T67" fmla="*/ 60 h 60"/>
                <a:gd name="T68" fmla="*/ 35 w 35"/>
                <a:gd name="T69" fmla="*/ 53 h 60"/>
                <a:gd name="T70" fmla="*/ 35 w 35"/>
                <a:gd name="T71" fmla="*/ 53 h 60"/>
                <a:gd name="T72" fmla="*/ 24 w 35"/>
                <a:gd name="T73" fmla="*/ 46 h 60"/>
                <a:gd name="T74" fmla="*/ 28 w 35"/>
                <a:gd name="T75" fmla="*/ 38 h 60"/>
                <a:gd name="T76" fmla="*/ 30 w 35"/>
                <a:gd name="T77" fmla="*/ 2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" h="60">
                  <a:moveTo>
                    <a:pt x="30" y="29"/>
                  </a:moveTo>
                  <a:cubicBezTo>
                    <a:pt x="31" y="24"/>
                    <a:pt x="31" y="18"/>
                    <a:pt x="32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7"/>
                    <a:pt x="4" y="11"/>
                    <a:pt x="3" y="12"/>
                  </a:cubicBezTo>
                  <a:cubicBezTo>
                    <a:pt x="3" y="13"/>
                    <a:pt x="2" y="14"/>
                    <a:pt x="1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4" y="21"/>
                    <a:pt x="6" y="19"/>
                    <a:pt x="8" y="18"/>
                  </a:cubicBezTo>
                  <a:cubicBezTo>
                    <a:pt x="9" y="16"/>
                    <a:pt x="11" y="14"/>
                    <a:pt x="12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21"/>
                    <a:pt x="23" y="26"/>
                    <a:pt x="23" y="29"/>
                  </a:cubicBezTo>
                  <a:cubicBezTo>
                    <a:pt x="22" y="32"/>
                    <a:pt x="21" y="36"/>
                    <a:pt x="19" y="40"/>
                  </a:cubicBezTo>
                  <a:cubicBezTo>
                    <a:pt x="17" y="37"/>
                    <a:pt x="16" y="35"/>
                    <a:pt x="15" y="32"/>
                  </a:cubicBezTo>
                  <a:cubicBezTo>
                    <a:pt x="14" y="29"/>
                    <a:pt x="13" y="25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7" y="29"/>
                    <a:pt x="9" y="36"/>
                    <a:pt x="11" y="40"/>
                  </a:cubicBezTo>
                  <a:cubicBezTo>
                    <a:pt x="12" y="41"/>
                    <a:pt x="13" y="43"/>
                    <a:pt x="14" y="46"/>
                  </a:cubicBezTo>
                  <a:cubicBezTo>
                    <a:pt x="11" y="49"/>
                    <a:pt x="7" y="51"/>
                    <a:pt x="3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6" y="59"/>
                    <a:pt x="9" y="58"/>
                    <a:pt x="11" y="57"/>
                  </a:cubicBezTo>
                  <a:cubicBezTo>
                    <a:pt x="14" y="55"/>
                    <a:pt x="16" y="54"/>
                    <a:pt x="19" y="51"/>
                  </a:cubicBezTo>
                  <a:cubicBezTo>
                    <a:pt x="21" y="53"/>
                    <a:pt x="23" y="54"/>
                    <a:pt x="25" y="55"/>
                  </a:cubicBezTo>
                  <a:cubicBezTo>
                    <a:pt x="27" y="57"/>
                    <a:pt x="30" y="58"/>
                    <a:pt x="34" y="60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0" y="51"/>
                    <a:pt x="27" y="49"/>
                    <a:pt x="24" y="46"/>
                  </a:cubicBezTo>
                  <a:cubicBezTo>
                    <a:pt x="26" y="43"/>
                    <a:pt x="27" y="40"/>
                    <a:pt x="28" y="38"/>
                  </a:cubicBezTo>
                  <a:cubicBezTo>
                    <a:pt x="29" y="35"/>
                    <a:pt x="30" y="32"/>
                    <a:pt x="3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16"/>
            <p:cNvSpPr/>
            <p:nvPr userDrawn="1"/>
          </p:nvSpPr>
          <p:spPr bwMode="auto">
            <a:xfrm>
              <a:off x="8209306" y="-414422"/>
              <a:ext cx="113713" cy="74770"/>
            </a:xfrm>
            <a:custGeom>
              <a:avLst/>
              <a:gdLst>
                <a:gd name="T0" fmla="*/ 39 w 68"/>
                <a:gd name="T1" fmla="*/ 21 h 44"/>
                <a:gd name="T2" fmla="*/ 62 w 68"/>
                <a:gd name="T3" fmla="*/ 21 h 44"/>
                <a:gd name="T4" fmla="*/ 68 w 68"/>
                <a:gd name="T5" fmla="*/ 15 h 44"/>
                <a:gd name="T6" fmla="*/ 68 w 68"/>
                <a:gd name="T7" fmla="*/ 13 h 44"/>
                <a:gd name="T8" fmla="*/ 39 w 68"/>
                <a:gd name="T9" fmla="*/ 13 h 44"/>
                <a:gd name="T10" fmla="*/ 39 w 68"/>
                <a:gd name="T11" fmla="*/ 0 h 44"/>
                <a:gd name="T12" fmla="*/ 31 w 68"/>
                <a:gd name="T13" fmla="*/ 0 h 44"/>
                <a:gd name="T14" fmla="*/ 31 w 68"/>
                <a:gd name="T15" fmla="*/ 36 h 44"/>
                <a:gd name="T16" fmla="*/ 16 w 68"/>
                <a:gd name="T17" fmla="*/ 36 h 44"/>
                <a:gd name="T18" fmla="*/ 16 w 68"/>
                <a:gd name="T19" fmla="*/ 10 h 44"/>
                <a:gd name="T20" fmla="*/ 8 w 68"/>
                <a:gd name="T21" fmla="*/ 10 h 44"/>
                <a:gd name="T22" fmla="*/ 8 w 68"/>
                <a:gd name="T23" fmla="*/ 36 h 44"/>
                <a:gd name="T24" fmla="*/ 0 w 68"/>
                <a:gd name="T25" fmla="*/ 36 h 44"/>
                <a:gd name="T26" fmla="*/ 0 w 68"/>
                <a:gd name="T27" fmla="*/ 44 h 44"/>
                <a:gd name="T28" fmla="*/ 62 w 68"/>
                <a:gd name="T29" fmla="*/ 44 h 44"/>
                <a:gd name="T30" fmla="*/ 68 w 68"/>
                <a:gd name="T31" fmla="*/ 38 h 44"/>
                <a:gd name="T32" fmla="*/ 68 w 68"/>
                <a:gd name="T33" fmla="*/ 36 h 44"/>
                <a:gd name="T34" fmla="*/ 39 w 68"/>
                <a:gd name="T35" fmla="*/ 36 h 44"/>
                <a:gd name="T36" fmla="*/ 39 w 68"/>
                <a:gd name="T37" fmla="*/ 2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44">
                  <a:moveTo>
                    <a:pt x="39" y="21"/>
                  </a:moveTo>
                  <a:cubicBezTo>
                    <a:pt x="62" y="21"/>
                    <a:pt x="62" y="21"/>
                    <a:pt x="62" y="21"/>
                  </a:cubicBezTo>
                  <a:cubicBezTo>
                    <a:pt x="65" y="21"/>
                    <a:pt x="68" y="18"/>
                    <a:pt x="68" y="15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4"/>
                    <a:pt x="68" y="41"/>
                    <a:pt x="68" y="38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39" y="36"/>
                    <a:pt x="39" y="36"/>
                    <a:pt x="39" y="36"/>
                  </a:cubicBezTo>
                  <a:lnTo>
                    <a:pt x="3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17"/>
            <p:cNvSpPr/>
            <p:nvPr userDrawn="1"/>
          </p:nvSpPr>
          <p:spPr bwMode="auto">
            <a:xfrm>
              <a:off x="8209306" y="-440903"/>
              <a:ext cx="115271" cy="40501"/>
            </a:xfrm>
            <a:custGeom>
              <a:avLst/>
              <a:gdLst>
                <a:gd name="T0" fmla="*/ 68 w 69"/>
                <a:gd name="T1" fmla="*/ 17 h 24"/>
                <a:gd name="T2" fmla="*/ 63 w 69"/>
                <a:gd name="T3" fmla="*/ 16 h 24"/>
                <a:gd name="T4" fmla="*/ 60 w 69"/>
                <a:gd name="T5" fmla="*/ 13 h 24"/>
                <a:gd name="T6" fmla="*/ 56 w 69"/>
                <a:gd name="T7" fmla="*/ 7 h 24"/>
                <a:gd name="T8" fmla="*/ 52 w 69"/>
                <a:gd name="T9" fmla="*/ 2 h 24"/>
                <a:gd name="T10" fmla="*/ 44 w 69"/>
                <a:gd name="T11" fmla="*/ 0 h 24"/>
                <a:gd name="T12" fmla="*/ 22 w 69"/>
                <a:gd name="T13" fmla="*/ 0 h 24"/>
                <a:gd name="T14" fmla="*/ 11 w 69"/>
                <a:gd name="T15" fmla="*/ 7 h 24"/>
                <a:gd name="T16" fmla="*/ 8 w 69"/>
                <a:gd name="T17" fmla="*/ 13 h 24"/>
                <a:gd name="T18" fmla="*/ 4 w 69"/>
                <a:gd name="T19" fmla="*/ 17 h 24"/>
                <a:gd name="T20" fmla="*/ 0 w 69"/>
                <a:gd name="T21" fmla="*/ 17 h 24"/>
                <a:gd name="T22" fmla="*/ 0 w 69"/>
                <a:gd name="T23" fmla="*/ 17 h 24"/>
                <a:gd name="T24" fmla="*/ 0 w 69"/>
                <a:gd name="T25" fmla="*/ 24 h 24"/>
                <a:gd name="T26" fmla="*/ 0 w 69"/>
                <a:gd name="T27" fmla="*/ 24 h 24"/>
                <a:gd name="T28" fmla="*/ 8 w 69"/>
                <a:gd name="T29" fmla="*/ 23 h 24"/>
                <a:gd name="T30" fmla="*/ 15 w 69"/>
                <a:gd name="T31" fmla="*/ 17 h 24"/>
                <a:gd name="T32" fmla="*/ 18 w 69"/>
                <a:gd name="T33" fmla="*/ 10 h 24"/>
                <a:gd name="T34" fmla="*/ 20 w 69"/>
                <a:gd name="T35" fmla="*/ 8 h 24"/>
                <a:gd name="T36" fmla="*/ 23 w 69"/>
                <a:gd name="T37" fmla="*/ 8 h 24"/>
                <a:gd name="T38" fmla="*/ 44 w 69"/>
                <a:gd name="T39" fmla="*/ 8 h 24"/>
                <a:gd name="T40" fmla="*/ 48 w 69"/>
                <a:gd name="T41" fmla="*/ 8 h 24"/>
                <a:gd name="T42" fmla="*/ 50 w 69"/>
                <a:gd name="T43" fmla="*/ 10 h 24"/>
                <a:gd name="T44" fmla="*/ 54 w 69"/>
                <a:gd name="T45" fmla="*/ 18 h 24"/>
                <a:gd name="T46" fmla="*/ 59 w 69"/>
                <a:gd name="T47" fmla="*/ 23 h 24"/>
                <a:gd name="T48" fmla="*/ 68 w 69"/>
                <a:gd name="T49" fmla="*/ 24 h 24"/>
                <a:gd name="T50" fmla="*/ 69 w 69"/>
                <a:gd name="T51" fmla="*/ 24 h 24"/>
                <a:gd name="T52" fmla="*/ 69 w 69"/>
                <a:gd name="T53" fmla="*/ 17 h 24"/>
                <a:gd name="T54" fmla="*/ 68 w 69"/>
                <a:gd name="T55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9" h="24">
                  <a:moveTo>
                    <a:pt x="68" y="17"/>
                  </a:moveTo>
                  <a:cubicBezTo>
                    <a:pt x="66" y="17"/>
                    <a:pt x="64" y="17"/>
                    <a:pt x="63" y="16"/>
                  </a:cubicBezTo>
                  <a:cubicBezTo>
                    <a:pt x="61" y="16"/>
                    <a:pt x="60" y="15"/>
                    <a:pt x="60" y="13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5" y="4"/>
                    <a:pt x="54" y="3"/>
                    <a:pt x="52" y="2"/>
                  </a:cubicBezTo>
                  <a:cubicBezTo>
                    <a:pt x="51" y="1"/>
                    <a:pt x="48" y="0"/>
                    <a:pt x="4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3" y="3"/>
                    <a:pt x="11" y="7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7" y="15"/>
                    <a:pt x="6" y="16"/>
                    <a:pt x="4" y="17"/>
                  </a:cubicBezTo>
                  <a:cubicBezTo>
                    <a:pt x="4" y="17"/>
                    <a:pt x="2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24"/>
                    <a:pt x="6" y="24"/>
                    <a:pt x="8" y="23"/>
                  </a:cubicBezTo>
                  <a:cubicBezTo>
                    <a:pt x="11" y="22"/>
                    <a:pt x="13" y="20"/>
                    <a:pt x="15" y="17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9"/>
                    <a:pt x="19" y="9"/>
                    <a:pt x="20" y="8"/>
                  </a:cubicBezTo>
                  <a:cubicBezTo>
                    <a:pt x="21" y="8"/>
                    <a:pt x="21" y="8"/>
                    <a:pt x="2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6" y="8"/>
                    <a:pt x="47" y="8"/>
                    <a:pt x="48" y="8"/>
                  </a:cubicBezTo>
                  <a:cubicBezTo>
                    <a:pt x="49" y="8"/>
                    <a:pt x="49" y="9"/>
                    <a:pt x="50" y="10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5" y="20"/>
                    <a:pt x="57" y="22"/>
                    <a:pt x="59" y="23"/>
                  </a:cubicBezTo>
                  <a:cubicBezTo>
                    <a:pt x="61" y="24"/>
                    <a:pt x="64" y="24"/>
                    <a:pt x="68" y="24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69" y="17"/>
                    <a:pt x="69" y="17"/>
                    <a:pt x="69" y="17"/>
                  </a:cubicBezTo>
                  <a:lnTo>
                    <a:pt x="68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18"/>
            <p:cNvSpPr>
              <a:spLocks noEditPoints="1"/>
            </p:cNvSpPr>
            <p:nvPr userDrawn="1"/>
          </p:nvSpPr>
          <p:spPr bwMode="auto">
            <a:xfrm>
              <a:off x="7600239" y="-267218"/>
              <a:ext cx="59972" cy="59193"/>
            </a:xfrm>
            <a:custGeom>
              <a:avLst/>
              <a:gdLst>
                <a:gd name="T0" fmla="*/ 6 w 36"/>
                <a:gd name="T1" fmla="*/ 20 h 35"/>
                <a:gd name="T2" fmla="*/ 10 w 36"/>
                <a:gd name="T3" fmla="*/ 19 h 35"/>
                <a:gd name="T4" fmla="*/ 18 w 36"/>
                <a:gd name="T5" fmla="*/ 20 h 35"/>
                <a:gd name="T6" fmla="*/ 14 w 36"/>
                <a:gd name="T7" fmla="*/ 29 h 35"/>
                <a:gd name="T8" fmla="*/ 16 w 36"/>
                <a:gd name="T9" fmla="*/ 33 h 35"/>
                <a:gd name="T10" fmla="*/ 2 w 36"/>
                <a:gd name="T11" fmla="*/ 35 h 35"/>
                <a:gd name="T12" fmla="*/ 9 w 36"/>
                <a:gd name="T13" fmla="*/ 29 h 35"/>
                <a:gd name="T14" fmla="*/ 5 w 36"/>
                <a:gd name="T15" fmla="*/ 23 h 35"/>
                <a:gd name="T16" fmla="*/ 1 w 36"/>
                <a:gd name="T17" fmla="*/ 20 h 35"/>
                <a:gd name="T18" fmla="*/ 9 w 36"/>
                <a:gd name="T19" fmla="*/ 8 h 35"/>
                <a:gd name="T20" fmla="*/ 12 w 36"/>
                <a:gd name="T21" fmla="*/ 0 h 35"/>
                <a:gd name="T22" fmla="*/ 19 w 36"/>
                <a:gd name="T23" fmla="*/ 8 h 35"/>
                <a:gd name="T24" fmla="*/ 12 w 36"/>
                <a:gd name="T25" fmla="*/ 11 h 35"/>
                <a:gd name="T26" fmla="*/ 13 w 36"/>
                <a:gd name="T27" fmla="*/ 12 h 35"/>
                <a:gd name="T28" fmla="*/ 17 w 36"/>
                <a:gd name="T29" fmla="*/ 18 h 35"/>
                <a:gd name="T30" fmla="*/ 12 w 36"/>
                <a:gd name="T31" fmla="*/ 18 h 35"/>
                <a:gd name="T32" fmla="*/ 9 w 36"/>
                <a:gd name="T33" fmla="*/ 13 h 35"/>
                <a:gd name="T34" fmla="*/ 0 w 36"/>
                <a:gd name="T35" fmla="*/ 17 h 35"/>
                <a:gd name="T36" fmla="*/ 1 w 36"/>
                <a:gd name="T37" fmla="*/ 11 h 35"/>
                <a:gd name="T38" fmla="*/ 2 w 36"/>
                <a:gd name="T39" fmla="*/ 3 h 35"/>
                <a:gd name="T40" fmla="*/ 7 w 36"/>
                <a:gd name="T41" fmla="*/ 6 h 35"/>
                <a:gd name="T42" fmla="*/ 2 w 36"/>
                <a:gd name="T43" fmla="*/ 3 h 35"/>
                <a:gd name="T44" fmla="*/ 11 w 36"/>
                <a:gd name="T45" fmla="*/ 28 h 35"/>
                <a:gd name="T46" fmla="*/ 8 w 36"/>
                <a:gd name="T47" fmla="*/ 23 h 35"/>
                <a:gd name="T48" fmla="*/ 17 w 36"/>
                <a:gd name="T49" fmla="*/ 1 h 35"/>
                <a:gd name="T50" fmla="*/ 15 w 36"/>
                <a:gd name="T51" fmla="*/ 7 h 35"/>
                <a:gd name="T52" fmla="*/ 17 w 36"/>
                <a:gd name="T53" fmla="*/ 1 h 35"/>
                <a:gd name="T54" fmla="*/ 26 w 36"/>
                <a:gd name="T55" fmla="*/ 1 h 35"/>
                <a:gd name="T56" fmla="*/ 35 w 36"/>
                <a:gd name="T57" fmla="*/ 7 h 35"/>
                <a:gd name="T58" fmla="*/ 33 w 36"/>
                <a:gd name="T59" fmla="*/ 9 h 35"/>
                <a:gd name="T60" fmla="*/ 36 w 36"/>
                <a:gd name="T61" fmla="*/ 32 h 35"/>
                <a:gd name="T62" fmla="*/ 27 w 36"/>
                <a:gd name="T63" fmla="*/ 28 h 35"/>
                <a:gd name="T64" fmla="*/ 17 w 36"/>
                <a:gd name="T65" fmla="*/ 33 h 35"/>
                <a:gd name="T66" fmla="*/ 21 w 36"/>
                <a:gd name="T67" fmla="*/ 14 h 35"/>
                <a:gd name="T68" fmla="*/ 18 w 36"/>
                <a:gd name="T69" fmla="*/ 14 h 35"/>
                <a:gd name="T70" fmla="*/ 30 w 36"/>
                <a:gd name="T71" fmla="*/ 9 h 35"/>
                <a:gd name="T72" fmla="*/ 23 w 36"/>
                <a:gd name="T73" fmla="*/ 10 h 35"/>
                <a:gd name="T74" fmla="*/ 30 w 36"/>
                <a:gd name="T75" fmla="*/ 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35">
                  <a:moveTo>
                    <a:pt x="1" y="20"/>
                  </a:moveTo>
                  <a:cubicBezTo>
                    <a:pt x="6" y="20"/>
                    <a:pt x="6" y="20"/>
                    <a:pt x="6" y="20"/>
                  </a:cubicBezTo>
                  <a:cubicBezTo>
                    <a:pt x="7" y="20"/>
                    <a:pt x="7" y="19"/>
                    <a:pt x="8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20"/>
                    <a:pt x="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7" y="25"/>
                    <a:pt x="15" y="27"/>
                    <a:pt x="14" y="29"/>
                  </a:cubicBezTo>
                  <a:cubicBezTo>
                    <a:pt x="15" y="29"/>
                    <a:pt x="16" y="30"/>
                    <a:pt x="18" y="3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3" y="31"/>
                    <a:pt x="12" y="31"/>
                  </a:cubicBezTo>
                  <a:cubicBezTo>
                    <a:pt x="9" y="32"/>
                    <a:pt x="6" y="34"/>
                    <a:pt x="2" y="35"/>
                  </a:cubicBezTo>
                  <a:cubicBezTo>
                    <a:pt x="1" y="34"/>
                    <a:pt x="1" y="33"/>
                    <a:pt x="0" y="33"/>
                  </a:cubicBezTo>
                  <a:cubicBezTo>
                    <a:pt x="4" y="32"/>
                    <a:pt x="7" y="31"/>
                    <a:pt x="9" y="29"/>
                  </a:cubicBezTo>
                  <a:cubicBezTo>
                    <a:pt x="7" y="28"/>
                    <a:pt x="5" y="27"/>
                    <a:pt x="3" y="26"/>
                  </a:cubicBezTo>
                  <a:cubicBezTo>
                    <a:pt x="3" y="25"/>
                    <a:pt x="4" y="24"/>
                    <a:pt x="5" y="23"/>
                  </a:cubicBezTo>
                  <a:cubicBezTo>
                    <a:pt x="1" y="23"/>
                    <a:pt x="1" y="23"/>
                    <a:pt x="1" y="23"/>
                  </a:cubicBezTo>
                  <a:lnTo>
                    <a:pt x="1" y="20"/>
                  </a:lnTo>
                  <a:close/>
                  <a:moveTo>
                    <a:pt x="1" y="8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5" y="13"/>
                    <a:pt x="17" y="15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4" y="15"/>
                    <a:pt x="12" y="14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7" y="15"/>
                    <a:pt x="5" y="17"/>
                    <a:pt x="2" y="19"/>
                  </a:cubicBezTo>
                  <a:cubicBezTo>
                    <a:pt x="1" y="18"/>
                    <a:pt x="1" y="17"/>
                    <a:pt x="0" y="17"/>
                  </a:cubicBezTo>
                  <a:cubicBezTo>
                    <a:pt x="3" y="15"/>
                    <a:pt x="6" y="13"/>
                    <a:pt x="8" y="11"/>
                  </a:cubicBezTo>
                  <a:cubicBezTo>
                    <a:pt x="1" y="11"/>
                    <a:pt x="1" y="11"/>
                    <a:pt x="1" y="11"/>
                  </a:cubicBezTo>
                  <a:lnTo>
                    <a:pt x="1" y="8"/>
                  </a:lnTo>
                  <a:close/>
                  <a:moveTo>
                    <a:pt x="2" y="3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5" y="3"/>
                    <a:pt x="6" y="4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3" y="4"/>
                    <a:pt x="2" y="3"/>
                  </a:cubicBezTo>
                  <a:close/>
                  <a:moveTo>
                    <a:pt x="6" y="25"/>
                  </a:moveTo>
                  <a:cubicBezTo>
                    <a:pt x="8" y="26"/>
                    <a:pt x="9" y="27"/>
                    <a:pt x="11" y="28"/>
                  </a:cubicBezTo>
                  <a:cubicBezTo>
                    <a:pt x="13" y="26"/>
                    <a:pt x="14" y="25"/>
                    <a:pt x="15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24"/>
                    <a:pt x="7" y="24"/>
                    <a:pt x="6" y="25"/>
                  </a:cubicBezTo>
                  <a:close/>
                  <a:moveTo>
                    <a:pt x="17" y="1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8" y="4"/>
                    <a:pt x="17" y="6"/>
                    <a:pt x="15" y="7"/>
                  </a:cubicBezTo>
                  <a:cubicBezTo>
                    <a:pt x="15" y="7"/>
                    <a:pt x="14" y="7"/>
                    <a:pt x="14" y="6"/>
                  </a:cubicBezTo>
                  <a:cubicBezTo>
                    <a:pt x="15" y="5"/>
                    <a:pt x="16" y="3"/>
                    <a:pt x="17" y="1"/>
                  </a:cubicBezTo>
                  <a:close/>
                  <a:moveTo>
                    <a:pt x="23" y="0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3"/>
                    <a:pt x="25" y="5"/>
                    <a:pt x="2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16"/>
                    <a:pt x="31" y="22"/>
                    <a:pt x="29" y="26"/>
                  </a:cubicBezTo>
                  <a:cubicBezTo>
                    <a:pt x="31" y="28"/>
                    <a:pt x="33" y="30"/>
                    <a:pt x="36" y="32"/>
                  </a:cubicBezTo>
                  <a:cubicBezTo>
                    <a:pt x="35" y="33"/>
                    <a:pt x="34" y="34"/>
                    <a:pt x="34" y="35"/>
                  </a:cubicBezTo>
                  <a:cubicBezTo>
                    <a:pt x="31" y="33"/>
                    <a:pt x="29" y="31"/>
                    <a:pt x="27" y="28"/>
                  </a:cubicBezTo>
                  <a:cubicBezTo>
                    <a:pt x="25" y="31"/>
                    <a:pt x="22" y="33"/>
                    <a:pt x="19" y="35"/>
                  </a:cubicBezTo>
                  <a:cubicBezTo>
                    <a:pt x="19" y="35"/>
                    <a:pt x="18" y="34"/>
                    <a:pt x="17" y="33"/>
                  </a:cubicBezTo>
                  <a:cubicBezTo>
                    <a:pt x="20" y="31"/>
                    <a:pt x="23" y="28"/>
                    <a:pt x="25" y="26"/>
                  </a:cubicBezTo>
                  <a:cubicBezTo>
                    <a:pt x="23" y="22"/>
                    <a:pt x="22" y="19"/>
                    <a:pt x="21" y="14"/>
                  </a:cubicBezTo>
                  <a:cubicBezTo>
                    <a:pt x="21" y="15"/>
                    <a:pt x="20" y="16"/>
                    <a:pt x="20" y="17"/>
                  </a:cubicBezTo>
                  <a:cubicBezTo>
                    <a:pt x="19" y="16"/>
                    <a:pt x="19" y="15"/>
                    <a:pt x="18" y="14"/>
                  </a:cubicBezTo>
                  <a:cubicBezTo>
                    <a:pt x="21" y="11"/>
                    <a:pt x="23" y="6"/>
                    <a:pt x="23" y="0"/>
                  </a:cubicBezTo>
                  <a:close/>
                  <a:moveTo>
                    <a:pt x="30" y="9"/>
                  </a:moveTo>
                  <a:cubicBezTo>
                    <a:pt x="24" y="9"/>
                    <a:pt x="24" y="9"/>
                    <a:pt x="24" y="9"/>
                  </a:cubicBezTo>
                  <a:cubicBezTo>
                    <a:pt x="24" y="10"/>
                    <a:pt x="23" y="10"/>
                    <a:pt x="23" y="10"/>
                  </a:cubicBezTo>
                  <a:cubicBezTo>
                    <a:pt x="24" y="15"/>
                    <a:pt x="25" y="19"/>
                    <a:pt x="27" y="23"/>
                  </a:cubicBezTo>
                  <a:cubicBezTo>
                    <a:pt x="29" y="20"/>
                    <a:pt x="30" y="15"/>
                    <a:pt x="3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19"/>
            <p:cNvSpPr>
              <a:spLocks noEditPoints="1"/>
            </p:cNvSpPr>
            <p:nvPr userDrawn="1"/>
          </p:nvSpPr>
          <p:spPr bwMode="auto">
            <a:xfrm>
              <a:off x="7717068" y="-267218"/>
              <a:ext cx="57635" cy="57636"/>
            </a:xfrm>
            <a:custGeom>
              <a:avLst/>
              <a:gdLst>
                <a:gd name="T0" fmla="*/ 0 w 35"/>
                <a:gd name="T1" fmla="*/ 21 h 34"/>
                <a:gd name="T2" fmla="*/ 17 w 35"/>
                <a:gd name="T3" fmla="*/ 21 h 34"/>
                <a:gd name="T4" fmla="*/ 17 w 35"/>
                <a:gd name="T5" fmla="*/ 19 h 34"/>
                <a:gd name="T6" fmla="*/ 23 w 35"/>
                <a:gd name="T7" fmla="*/ 14 h 34"/>
                <a:gd name="T8" fmla="*/ 6 w 35"/>
                <a:gd name="T9" fmla="*/ 14 h 34"/>
                <a:gd name="T10" fmla="*/ 6 w 35"/>
                <a:gd name="T11" fmla="*/ 12 h 34"/>
                <a:gd name="T12" fmla="*/ 28 w 35"/>
                <a:gd name="T13" fmla="*/ 12 h 34"/>
                <a:gd name="T14" fmla="*/ 28 w 35"/>
                <a:gd name="T15" fmla="*/ 15 h 34"/>
                <a:gd name="T16" fmla="*/ 19 w 35"/>
                <a:gd name="T17" fmla="*/ 20 h 34"/>
                <a:gd name="T18" fmla="*/ 19 w 35"/>
                <a:gd name="T19" fmla="*/ 21 h 34"/>
                <a:gd name="T20" fmla="*/ 35 w 35"/>
                <a:gd name="T21" fmla="*/ 21 h 34"/>
                <a:gd name="T22" fmla="*/ 35 w 35"/>
                <a:gd name="T23" fmla="*/ 23 h 34"/>
                <a:gd name="T24" fmla="*/ 19 w 35"/>
                <a:gd name="T25" fmla="*/ 23 h 34"/>
                <a:gd name="T26" fmla="*/ 19 w 35"/>
                <a:gd name="T27" fmla="*/ 30 h 34"/>
                <a:gd name="T28" fmla="*/ 15 w 35"/>
                <a:gd name="T29" fmla="*/ 34 h 34"/>
                <a:gd name="T30" fmla="*/ 10 w 35"/>
                <a:gd name="T31" fmla="*/ 34 h 34"/>
                <a:gd name="T32" fmla="*/ 9 w 35"/>
                <a:gd name="T33" fmla="*/ 31 h 34"/>
                <a:gd name="T34" fmla="*/ 14 w 35"/>
                <a:gd name="T35" fmla="*/ 32 h 34"/>
                <a:gd name="T36" fmla="*/ 17 w 35"/>
                <a:gd name="T37" fmla="*/ 29 h 34"/>
                <a:gd name="T38" fmla="*/ 17 w 35"/>
                <a:gd name="T39" fmla="*/ 23 h 34"/>
                <a:gd name="T40" fmla="*/ 0 w 35"/>
                <a:gd name="T41" fmla="*/ 23 h 34"/>
                <a:gd name="T42" fmla="*/ 0 w 35"/>
                <a:gd name="T43" fmla="*/ 21 h 34"/>
                <a:gd name="T44" fmla="*/ 1 w 35"/>
                <a:gd name="T45" fmla="*/ 5 h 34"/>
                <a:gd name="T46" fmla="*/ 18 w 35"/>
                <a:gd name="T47" fmla="*/ 5 h 34"/>
                <a:gd name="T48" fmla="*/ 14 w 35"/>
                <a:gd name="T49" fmla="*/ 1 h 34"/>
                <a:gd name="T50" fmla="*/ 17 w 35"/>
                <a:gd name="T51" fmla="*/ 0 h 34"/>
                <a:gd name="T52" fmla="*/ 20 w 35"/>
                <a:gd name="T53" fmla="*/ 4 h 34"/>
                <a:gd name="T54" fmla="*/ 19 w 35"/>
                <a:gd name="T55" fmla="*/ 5 h 34"/>
                <a:gd name="T56" fmla="*/ 34 w 35"/>
                <a:gd name="T57" fmla="*/ 5 h 34"/>
                <a:gd name="T58" fmla="*/ 34 w 35"/>
                <a:gd name="T59" fmla="*/ 12 h 34"/>
                <a:gd name="T60" fmla="*/ 31 w 35"/>
                <a:gd name="T61" fmla="*/ 12 h 34"/>
                <a:gd name="T62" fmla="*/ 31 w 35"/>
                <a:gd name="T63" fmla="*/ 8 h 34"/>
                <a:gd name="T64" fmla="*/ 4 w 35"/>
                <a:gd name="T65" fmla="*/ 8 h 34"/>
                <a:gd name="T66" fmla="*/ 4 w 35"/>
                <a:gd name="T67" fmla="*/ 12 h 34"/>
                <a:gd name="T68" fmla="*/ 1 w 35"/>
                <a:gd name="T69" fmla="*/ 12 h 34"/>
                <a:gd name="T70" fmla="*/ 1 w 35"/>
                <a:gd name="T71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" h="34">
                  <a:moveTo>
                    <a:pt x="0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3"/>
                    <a:pt x="18" y="34"/>
                    <a:pt x="15" y="34"/>
                  </a:cubicBezTo>
                  <a:cubicBezTo>
                    <a:pt x="14" y="34"/>
                    <a:pt x="12" y="34"/>
                    <a:pt x="10" y="34"/>
                  </a:cubicBezTo>
                  <a:cubicBezTo>
                    <a:pt x="10" y="33"/>
                    <a:pt x="9" y="32"/>
                    <a:pt x="9" y="31"/>
                  </a:cubicBezTo>
                  <a:cubicBezTo>
                    <a:pt x="11" y="31"/>
                    <a:pt x="13" y="32"/>
                    <a:pt x="14" y="32"/>
                  </a:cubicBezTo>
                  <a:cubicBezTo>
                    <a:pt x="16" y="32"/>
                    <a:pt x="17" y="31"/>
                    <a:pt x="17" y="29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0" y="23"/>
                    <a:pt x="0" y="23"/>
                    <a:pt x="0" y="23"/>
                  </a:cubicBezTo>
                  <a:lnTo>
                    <a:pt x="0" y="21"/>
                  </a:lnTo>
                  <a:close/>
                  <a:moveTo>
                    <a:pt x="1" y="5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17" y="4"/>
                    <a:pt x="16" y="3"/>
                    <a:pt x="14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1"/>
                    <a:pt x="19" y="3"/>
                    <a:pt x="20" y="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20"/>
            <p:cNvSpPr>
              <a:spLocks noEditPoints="1"/>
            </p:cNvSpPr>
            <p:nvPr userDrawn="1"/>
          </p:nvSpPr>
          <p:spPr bwMode="auto">
            <a:xfrm>
              <a:off x="7831560" y="-267218"/>
              <a:ext cx="58415" cy="57636"/>
            </a:xfrm>
            <a:custGeom>
              <a:avLst/>
              <a:gdLst>
                <a:gd name="T0" fmla="*/ 0 w 35"/>
                <a:gd name="T1" fmla="*/ 17 h 34"/>
                <a:gd name="T2" fmla="*/ 9 w 35"/>
                <a:gd name="T3" fmla="*/ 0 h 34"/>
                <a:gd name="T4" fmla="*/ 12 w 35"/>
                <a:gd name="T5" fmla="*/ 1 h 34"/>
                <a:gd name="T6" fmla="*/ 9 w 35"/>
                <a:gd name="T7" fmla="*/ 9 h 34"/>
                <a:gd name="T8" fmla="*/ 9 w 35"/>
                <a:gd name="T9" fmla="*/ 34 h 34"/>
                <a:gd name="T10" fmla="*/ 6 w 35"/>
                <a:gd name="T11" fmla="*/ 34 h 34"/>
                <a:gd name="T12" fmla="*/ 6 w 35"/>
                <a:gd name="T13" fmla="*/ 15 h 34"/>
                <a:gd name="T14" fmla="*/ 1 w 35"/>
                <a:gd name="T15" fmla="*/ 21 h 34"/>
                <a:gd name="T16" fmla="*/ 0 w 35"/>
                <a:gd name="T17" fmla="*/ 17 h 34"/>
                <a:gd name="T18" fmla="*/ 10 w 35"/>
                <a:gd name="T19" fmla="*/ 22 h 34"/>
                <a:gd name="T20" fmla="*/ 19 w 35"/>
                <a:gd name="T21" fmla="*/ 17 h 34"/>
                <a:gd name="T22" fmla="*/ 19 w 35"/>
                <a:gd name="T23" fmla="*/ 1 h 34"/>
                <a:gd name="T24" fmla="*/ 22 w 35"/>
                <a:gd name="T25" fmla="*/ 1 h 34"/>
                <a:gd name="T26" fmla="*/ 22 w 35"/>
                <a:gd name="T27" fmla="*/ 15 h 34"/>
                <a:gd name="T28" fmla="*/ 31 w 35"/>
                <a:gd name="T29" fmla="*/ 5 h 34"/>
                <a:gd name="T30" fmla="*/ 34 w 35"/>
                <a:gd name="T31" fmla="*/ 6 h 34"/>
                <a:gd name="T32" fmla="*/ 22 w 35"/>
                <a:gd name="T33" fmla="*/ 18 h 34"/>
                <a:gd name="T34" fmla="*/ 22 w 35"/>
                <a:gd name="T35" fmla="*/ 28 h 34"/>
                <a:gd name="T36" fmla="*/ 24 w 35"/>
                <a:gd name="T37" fmla="*/ 31 h 34"/>
                <a:gd name="T38" fmla="*/ 29 w 35"/>
                <a:gd name="T39" fmla="*/ 31 h 34"/>
                <a:gd name="T40" fmla="*/ 31 w 35"/>
                <a:gd name="T41" fmla="*/ 28 h 34"/>
                <a:gd name="T42" fmla="*/ 32 w 35"/>
                <a:gd name="T43" fmla="*/ 23 h 34"/>
                <a:gd name="T44" fmla="*/ 35 w 35"/>
                <a:gd name="T45" fmla="*/ 24 h 34"/>
                <a:gd name="T46" fmla="*/ 34 w 35"/>
                <a:gd name="T47" fmla="*/ 29 h 34"/>
                <a:gd name="T48" fmla="*/ 29 w 35"/>
                <a:gd name="T49" fmla="*/ 33 h 34"/>
                <a:gd name="T50" fmla="*/ 23 w 35"/>
                <a:gd name="T51" fmla="*/ 33 h 34"/>
                <a:gd name="T52" fmla="*/ 19 w 35"/>
                <a:gd name="T53" fmla="*/ 29 h 34"/>
                <a:gd name="T54" fmla="*/ 19 w 35"/>
                <a:gd name="T55" fmla="*/ 20 h 34"/>
                <a:gd name="T56" fmla="*/ 12 w 35"/>
                <a:gd name="T57" fmla="*/ 24 h 34"/>
                <a:gd name="T58" fmla="*/ 10 w 35"/>
                <a:gd name="T59" fmla="*/ 2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" h="34">
                  <a:moveTo>
                    <a:pt x="0" y="17"/>
                  </a:moveTo>
                  <a:cubicBezTo>
                    <a:pt x="4" y="12"/>
                    <a:pt x="7" y="6"/>
                    <a:pt x="9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4"/>
                    <a:pt x="10" y="7"/>
                    <a:pt x="9" y="9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4" y="17"/>
                    <a:pt x="3" y="19"/>
                    <a:pt x="1" y="21"/>
                  </a:cubicBezTo>
                  <a:cubicBezTo>
                    <a:pt x="1" y="20"/>
                    <a:pt x="1" y="19"/>
                    <a:pt x="0" y="17"/>
                  </a:cubicBezTo>
                  <a:close/>
                  <a:moveTo>
                    <a:pt x="10" y="22"/>
                  </a:moveTo>
                  <a:cubicBezTo>
                    <a:pt x="13" y="20"/>
                    <a:pt x="16" y="19"/>
                    <a:pt x="19" y="17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5" y="12"/>
                    <a:pt x="28" y="8"/>
                    <a:pt x="31" y="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0" y="11"/>
                    <a:pt x="26" y="15"/>
                    <a:pt x="22" y="1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30"/>
                    <a:pt x="23" y="31"/>
                    <a:pt x="24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0" y="31"/>
                    <a:pt x="31" y="30"/>
                    <a:pt x="31" y="28"/>
                  </a:cubicBezTo>
                  <a:cubicBezTo>
                    <a:pt x="32" y="27"/>
                    <a:pt x="32" y="25"/>
                    <a:pt x="32" y="23"/>
                  </a:cubicBezTo>
                  <a:cubicBezTo>
                    <a:pt x="33" y="23"/>
                    <a:pt x="34" y="24"/>
                    <a:pt x="35" y="24"/>
                  </a:cubicBezTo>
                  <a:cubicBezTo>
                    <a:pt x="35" y="26"/>
                    <a:pt x="35" y="28"/>
                    <a:pt x="34" y="29"/>
                  </a:cubicBezTo>
                  <a:cubicBezTo>
                    <a:pt x="34" y="32"/>
                    <a:pt x="32" y="33"/>
                    <a:pt x="29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0" y="33"/>
                    <a:pt x="19" y="32"/>
                    <a:pt x="19" y="2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6" y="22"/>
                    <a:pt x="14" y="23"/>
                    <a:pt x="12" y="24"/>
                  </a:cubicBezTo>
                  <a:cubicBezTo>
                    <a:pt x="11" y="24"/>
                    <a:pt x="11" y="23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21"/>
            <p:cNvSpPr>
              <a:spLocks noEditPoints="1"/>
            </p:cNvSpPr>
            <p:nvPr userDrawn="1"/>
          </p:nvSpPr>
          <p:spPr bwMode="auto">
            <a:xfrm>
              <a:off x="7948389" y="-267218"/>
              <a:ext cx="56078" cy="59193"/>
            </a:xfrm>
            <a:custGeom>
              <a:avLst/>
              <a:gdLst>
                <a:gd name="T0" fmla="*/ 1 w 34"/>
                <a:gd name="T1" fmla="*/ 32 h 35"/>
                <a:gd name="T2" fmla="*/ 15 w 34"/>
                <a:gd name="T3" fmla="*/ 27 h 35"/>
                <a:gd name="T4" fmla="*/ 6 w 34"/>
                <a:gd name="T5" fmla="*/ 23 h 35"/>
                <a:gd name="T6" fmla="*/ 9 w 34"/>
                <a:gd name="T7" fmla="*/ 18 h 35"/>
                <a:gd name="T8" fmla="*/ 0 w 34"/>
                <a:gd name="T9" fmla="*/ 18 h 35"/>
                <a:gd name="T10" fmla="*/ 0 w 34"/>
                <a:gd name="T11" fmla="*/ 15 h 35"/>
                <a:gd name="T12" fmla="*/ 10 w 34"/>
                <a:gd name="T13" fmla="*/ 15 h 35"/>
                <a:gd name="T14" fmla="*/ 14 w 34"/>
                <a:gd name="T15" fmla="*/ 9 h 35"/>
                <a:gd name="T16" fmla="*/ 17 w 34"/>
                <a:gd name="T17" fmla="*/ 10 h 35"/>
                <a:gd name="T18" fmla="*/ 14 w 34"/>
                <a:gd name="T19" fmla="*/ 15 h 35"/>
                <a:gd name="T20" fmla="*/ 34 w 34"/>
                <a:gd name="T21" fmla="*/ 15 h 35"/>
                <a:gd name="T22" fmla="*/ 34 w 34"/>
                <a:gd name="T23" fmla="*/ 18 h 35"/>
                <a:gd name="T24" fmla="*/ 27 w 34"/>
                <a:gd name="T25" fmla="*/ 18 h 35"/>
                <a:gd name="T26" fmla="*/ 21 w 34"/>
                <a:gd name="T27" fmla="*/ 27 h 35"/>
                <a:gd name="T28" fmla="*/ 32 w 34"/>
                <a:gd name="T29" fmla="*/ 32 h 35"/>
                <a:gd name="T30" fmla="*/ 30 w 34"/>
                <a:gd name="T31" fmla="*/ 35 h 35"/>
                <a:gd name="T32" fmla="*/ 18 w 34"/>
                <a:gd name="T33" fmla="*/ 29 h 35"/>
                <a:gd name="T34" fmla="*/ 2 w 34"/>
                <a:gd name="T35" fmla="*/ 35 h 35"/>
                <a:gd name="T36" fmla="*/ 1 w 34"/>
                <a:gd name="T37" fmla="*/ 32 h 35"/>
                <a:gd name="T38" fmla="*/ 1 w 34"/>
                <a:gd name="T39" fmla="*/ 5 h 35"/>
                <a:gd name="T40" fmla="*/ 17 w 34"/>
                <a:gd name="T41" fmla="*/ 5 h 35"/>
                <a:gd name="T42" fmla="*/ 14 w 34"/>
                <a:gd name="T43" fmla="*/ 1 h 35"/>
                <a:gd name="T44" fmla="*/ 16 w 34"/>
                <a:gd name="T45" fmla="*/ 0 h 35"/>
                <a:gd name="T46" fmla="*/ 20 w 34"/>
                <a:gd name="T47" fmla="*/ 4 h 35"/>
                <a:gd name="T48" fmla="*/ 18 w 34"/>
                <a:gd name="T49" fmla="*/ 5 h 35"/>
                <a:gd name="T50" fmla="*/ 33 w 34"/>
                <a:gd name="T51" fmla="*/ 5 h 35"/>
                <a:gd name="T52" fmla="*/ 33 w 34"/>
                <a:gd name="T53" fmla="*/ 12 h 35"/>
                <a:gd name="T54" fmla="*/ 30 w 34"/>
                <a:gd name="T55" fmla="*/ 12 h 35"/>
                <a:gd name="T56" fmla="*/ 30 w 34"/>
                <a:gd name="T57" fmla="*/ 8 h 35"/>
                <a:gd name="T58" fmla="*/ 4 w 34"/>
                <a:gd name="T59" fmla="*/ 8 h 35"/>
                <a:gd name="T60" fmla="*/ 4 w 34"/>
                <a:gd name="T61" fmla="*/ 12 h 35"/>
                <a:gd name="T62" fmla="*/ 1 w 34"/>
                <a:gd name="T63" fmla="*/ 12 h 35"/>
                <a:gd name="T64" fmla="*/ 1 w 34"/>
                <a:gd name="T65" fmla="*/ 5 h 35"/>
                <a:gd name="T66" fmla="*/ 10 w 34"/>
                <a:gd name="T67" fmla="*/ 22 h 35"/>
                <a:gd name="T68" fmla="*/ 18 w 34"/>
                <a:gd name="T69" fmla="*/ 25 h 35"/>
                <a:gd name="T70" fmla="*/ 24 w 34"/>
                <a:gd name="T71" fmla="*/ 18 h 35"/>
                <a:gd name="T72" fmla="*/ 12 w 34"/>
                <a:gd name="T73" fmla="*/ 18 h 35"/>
                <a:gd name="T74" fmla="*/ 10 w 34"/>
                <a:gd name="T75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4" h="35">
                  <a:moveTo>
                    <a:pt x="1" y="32"/>
                  </a:moveTo>
                  <a:cubicBezTo>
                    <a:pt x="7" y="31"/>
                    <a:pt x="12" y="29"/>
                    <a:pt x="15" y="27"/>
                  </a:cubicBezTo>
                  <a:cubicBezTo>
                    <a:pt x="12" y="26"/>
                    <a:pt x="9" y="24"/>
                    <a:pt x="6" y="23"/>
                  </a:cubicBezTo>
                  <a:cubicBezTo>
                    <a:pt x="7" y="21"/>
                    <a:pt x="8" y="19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2" y="13"/>
                    <a:pt x="13" y="11"/>
                    <a:pt x="14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12"/>
                    <a:pt x="15" y="13"/>
                    <a:pt x="1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6" y="21"/>
                    <a:pt x="24" y="24"/>
                    <a:pt x="21" y="27"/>
                  </a:cubicBezTo>
                  <a:cubicBezTo>
                    <a:pt x="25" y="28"/>
                    <a:pt x="28" y="30"/>
                    <a:pt x="32" y="32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7" y="33"/>
                    <a:pt x="23" y="31"/>
                    <a:pt x="18" y="29"/>
                  </a:cubicBezTo>
                  <a:cubicBezTo>
                    <a:pt x="14" y="32"/>
                    <a:pt x="9" y="33"/>
                    <a:pt x="2" y="35"/>
                  </a:cubicBezTo>
                  <a:cubicBezTo>
                    <a:pt x="2" y="34"/>
                    <a:pt x="1" y="33"/>
                    <a:pt x="1" y="32"/>
                  </a:cubicBezTo>
                  <a:close/>
                  <a:moveTo>
                    <a:pt x="1" y="5"/>
                  </a:moveTo>
                  <a:cubicBezTo>
                    <a:pt x="17" y="5"/>
                    <a:pt x="17" y="5"/>
                    <a:pt x="17" y="5"/>
                  </a:cubicBezTo>
                  <a:cubicBezTo>
                    <a:pt x="16" y="4"/>
                    <a:pt x="15" y="3"/>
                    <a:pt x="14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1"/>
                    <a:pt x="19" y="3"/>
                    <a:pt x="20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5"/>
                  </a:lnTo>
                  <a:close/>
                  <a:moveTo>
                    <a:pt x="10" y="22"/>
                  </a:moveTo>
                  <a:cubicBezTo>
                    <a:pt x="12" y="23"/>
                    <a:pt x="15" y="24"/>
                    <a:pt x="18" y="25"/>
                  </a:cubicBezTo>
                  <a:cubicBezTo>
                    <a:pt x="21" y="23"/>
                    <a:pt x="23" y="21"/>
                    <a:pt x="24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19"/>
                    <a:pt x="10" y="20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22"/>
            <p:cNvSpPr>
              <a:spLocks noEditPoints="1"/>
            </p:cNvSpPr>
            <p:nvPr userDrawn="1"/>
          </p:nvSpPr>
          <p:spPr bwMode="auto">
            <a:xfrm>
              <a:off x="8062881" y="-265661"/>
              <a:ext cx="58415" cy="54520"/>
            </a:xfrm>
            <a:custGeom>
              <a:avLst/>
              <a:gdLst>
                <a:gd name="T0" fmla="*/ 20 w 35"/>
                <a:gd name="T1" fmla="*/ 0 h 32"/>
                <a:gd name="T2" fmla="*/ 19 w 35"/>
                <a:gd name="T3" fmla="*/ 0 h 32"/>
                <a:gd name="T4" fmla="*/ 35 w 35"/>
                <a:gd name="T5" fmla="*/ 12 h 32"/>
                <a:gd name="T6" fmla="*/ 33 w 35"/>
                <a:gd name="T7" fmla="*/ 15 h 32"/>
                <a:gd name="T8" fmla="*/ 17 w 35"/>
                <a:gd name="T9" fmla="*/ 3 h 32"/>
                <a:gd name="T10" fmla="*/ 2 w 35"/>
                <a:gd name="T11" fmla="*/ 15 h 32"/>
                <a:gd name="T12" fmla="*/ 0 w 35"/>
                <a:gd name="T13" fmla="*/ 13 h 32"/>
                <a:gd name="T14" fmla="*/ 16 w 35"/>
                <a:gd name="T15" fmla="*/ 0 h 32"/>
                <a:gd name="T16" fmla="*/ 20 w 35"/>
                <a:gd name="T17" fmla="*/ 0 h 32"/>
                <a:gd name="T18" fmla="*/ 1 w 35"/>
                <a:gd name="T19" fmla="*/ 30 h 32"/>
                <a:gd name="T20" fmla="*/ 16 w 35"/>
                <a:gd name="T21" fmla="*/ 30 h 32"/>
                <a:gd name="T22" fmla="*/ 16 w 35"/>
                <a:gd name="T23" fmla="*/ 23 h 32"/>
                <a:gd name="T24" fmla="*/ 5 w 35"/>
                <a:gd name="T25" fmla="*/ 23 h 32"/>
                <a:gd name="T26" fmla="*/ 5 w 35"/>
                <a:gd name="T27" fmla="*/ 21 h 32"/>
                <a:gd name="T28" fmla="*/ 16 w 35"/>
                <a:gd name="T29" fmla="*/ 21 h 32"/>
                <a:gd name="T30" fmla="*/ 16 w 35"/>
                <a:gd name="T31" fmla="*/ 15 h 32"/>
                <a:gd name="T32" fmla="*/ 6 w 35"/>
                <a:gd name="T33" fmla="*/ 15 h 32"/>
                <a:gd name="T34" fmla="*/ 6 w 35"/>
                <a:gd name="T35" fmla="*/ 13 h 32"/>
                <a:gd name="T36" fmla="*/ 29 w 35"/>
                <a:gd name="T37" fmla="*/ 13 h 32"/>
                <a:gd name="T38" fmla="*/ 29 w 35"/>
                <a:gd name="T39" fmla="*/ 15 h 32"/>
                <a:gd name="T40" fmla="*/ 19 w 35"/>
                <a:gd name="T41" fmla="*/ 15 h 32"/>
                <a:gd name="T42" fmla="*/ 19 w 35"/>
                <a:gd name="T43" fmla="*/ 21 h 32"/>
                <a:gd name="T44" fmla="*/ 30 w 35"/>
                <a:gd name="T45" fmla="*/ 21 h 32"/>
                <a:gd name="T46" fmla="*/ 30 w 35"/>
                <a:gd name="T47" fmla="*/ 23 h 32"/>
                <a:gd name="T48" fmla="*/ 19 w 35"/>
                <a:gd name="T49" fmla="*/ 23 h 32"/>
                <a:gd name="T50" fmla="*/ 19 w 35"/>
                <a:gd name="T51" fmla="*/ 30 h 32"/>
                <a:gd name="T52" fmla="*/ 33 w 35"/>
                <a:gd name="T53" fmla="*/ 30 h 32"/>
                <a:gd name="T54" fmla="*/ 33 w 35"/>
                <a:gd name="T55" fmla="*/ 32 h 32"/>
                <a:gd name="T56" fmla="*/ 1 w 35"/>
                <a:gd name="T57" fmla="*/ 32 h 32"/>
                <a:gd name="T58" fmla="*/ 1 w 35"/>
                <a:gd name="T5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" h="32">
                  <a:moveTo>
                    <a:pt x="20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23" y="6"/>
                    <a:pt x="28" y="9"/>
                    <a:pt x="35" y="12"/>
                  </a:cubicBezTo>
                  <a:cubicBezTo>
                    <a:pt x="34" y="13"/>
                    <a:pt x="34" y="14"/>
                    <a:pt x="33" y="15"/>
                  </a:cubicBezTo>
                  <a:cubicBezTo>
                    <a:pt x="27" y="12"/>
                    <a:pt x="22" y="8"/>
                    <a:pt x="17" y="3"/>
                  </a:cubicBezTo>
                  <a:cubicBezTo>
                    <a:pt x="14" y="7"/>
                    <a:pt x="9" y="11"/>
                    <a:pt x="2" y="15"/>
                  </a:cubicBezTo>
                  <a:cubicBezTo>
                    <a:pt x="1" y="15"/>
                    <a:pt x="0" y="14"/>
                    <a:pt x="0" y="13"/>
                  </a:cubicBezTo>
                  <a:cubicBezTo>
                    <a:pt x="7" y="9"/>
                    <a:pt x="13" y="5"/>
                    <a:pt x="16" y="0"/>
                  </a:cubicBezTo>
                  <a:lnTo>
                    <a:pt x="20" y="0"/>
                  </a:lnTo>
                  <a:close/>
                  <a:moveTo>
                    <a:pt x="1" y="30"/>
                  </a:move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" y="32"/>
                    <a:pt x="1" y="32"/>
                    <a:pt x="1" y="3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23"/>
            <p:cNvSpPr>
              <a:spLocks noEditPoints="1"/>
            </p:cNvSpPr>
            <p:nvPr userDrawn="1"/>
          </p:nvSpPr>
          <p:spPr bwMode="auto">
            <a:xfrm>
              <a:off x="8181267" y="-267218"/>
              <a:ext cx="52962" cy="57636"/>
            </a:xfrm>
            <a:custGeom>
              <a:avLst/>
              <a:gdLst>
                <a:gd name="T0" fmla="*/ 0 w 32"/>
                <a:gd name="T1" fmla="*/ 6 h 34"/>
                <a:gd name="T2" fmla="*/ 3 w 32"/>
                <a:gd name="T3" fmla="*/ 6 h 34"/>
                <a:gd name="T4" fmla="*/ 5 w 32"/>
                <a:gd name="T5" fmla="*/ 0 h 34"/>
                <a:gd name="T6" fmla="*/ 8 w 32"/>
                <a:gd name="T7" fmla="*/ 1 h 34"/>
                <a:gd name="T8" fmla="*/ 6 w 32"/>
                <a:gd name="T9" fmla="*/ 6 h 34"/>
                <a:gd name="T10" fmla="*/ 13 w 32"/>
                <a:gd name="T11" fmla="*/ 6 h 34"/>
                <a:gd name="T12" fmla="*/ 13 w 32"/>
                <a:gd name="T13" fmla="*/ 34 h 34"/>
                <a:gd name="T14" fmla="*/ 10 w 32"/>
                <a:gd name="T15" fmla="*/ 34 h 34"/>
                <a:gd name="T16" fmla="*/ 10 w 32"/>
                <a:gd name="T17" fmla="*/ 31 h 34"/>
                <a:gd name="T18" fmla="*/ 2 w 32"/>
                <a:gd name="T19" fmla="*/ 31 h 34"/>
                <a:gd name="T20" fmla="*/ 2 w 32"/>
                <a:gd name="T21" fmla="*/ 34 h 34"/>
                <a:gd name="T22" fmla="*/ 0 w 32"/>
                <a:gd name="T23" fmla="*/ 34 h 34"/>
                <a:gd name="T24" fmla="*/ 0 w 32"/>
                <a:gd name="T25" fmla="*/ 6 h 34"/>
                <a:gd name="T26" fmla="*/ 10 w 32"/>
                <a:gd name="T27" fmla="*/ 9 h 34"/>
                <a:gd name="T28" fmla="*/ 2 w 32"/>
                <a:gd name="T29" fmla="*/ 9 h 34"/>
                <a:gd name="T30" fmla="*/ 2 w 32"/>
                <a:gd name="T31" fmla="*/ 17 h 34"/>
                <a:gd name="T32" fmla="*/ 10 w 32"/>
                <a:gd name="T33" fmla="*/ 17 h 34"/>
                <a:gd name="T34" fmla="*/ 10 w 32"/>
                <a:gd name="T35" fmla="*/ 9 h 34"/>
                <a:gd name="T36" fmla="*/ 2 w 32"/>
                <a:gd name="T37" fmla="*/ 28 h 34"/>
                <a:gd name="T38" fmla="*/ 10 w 32"/>
                <a:gd name="T39" fmla="*/ 28 h 34"/>
                <a:gd name="T40" fmla="*/ 10 w 32"/>
                <a:gd name="T41" fmla="*/ 20 h 34"/>
                <a:gd name="T42" fmla="*/ 2 w 32"/>
                <a:gd name="T43" fmla="*/ 20 h 34"/>
                <a:gd name="T44" fmla="*/ 2 w 32"/>
                <a:gd name="T45" fmla="*/ 28 h 34"/>
                <a:gd name="T46" fmla="*/ 14 w 32"/>
                <a:gd name="T47" fmla="*/ 13 h 34"/>
                <a:gd name="T48" fmla="*/ 19 w 32"/>
                <a:gd name="T49" fmla="*/ 0 h 34"/>
                <a:gd name="T50" fmla="*/ 22 w 32"/>
                <a:gd name="T51" fmla="*/ 1 h 34"/>
                <a:gd name="T52" fmla="*/ 20 w 32"/>
                <a:gd name="T53" fmla="*/ 6 h 34"/>
                <a:gd name="T54" fmla="*/ 32 w 32"/>
                <a:gd name="T55" fmla="*/ 6 h 34"/>
                <a:gd name="T56" fmla="*/ 31 w 32"/>
                <a:gd name="T57" fmla="*/ 29 h 34"/>
                <a:gd name="T58" fmla="*/ 25 w 32"/>
                <a:gd name="T59" fmla="*/ 34 h 34"/>
                <a:gd name="T60" fmla="*/ 19 w 32"/>
                <a:gd name="T61" fmla="*/ 34 h 34"/>
                <a:gd name="T62" fmla="*/ 18 w 32"/>
                <a:gd name="T63" fmla="*/ 31 h 34"/>
                <a:gd name="T64" fmla="*/ 18 w 32"/>
                <a:gd name="T65" fmla="*/ 31 h 34"/>
                <a:gd name="T66" fmla="*/ 25 w 32"/>
                <a:gd name="T67" fmla="*/ 31 h 34"/>
                <a:gd name="T68" fmla="*/ 28 w 32"/>
                <a:gd name="T69" fmla="*/ 28 h 34"/>
                <a:gd name="T70" fmla="*/ 29 w 32"/>
                <a:gd name="T71" fmla="*/ 8 h 34"/>
                <a:gd name="T72" fmla="*/ 19 w 32"/>
                <a:gd name="T73" fmla="*/ 8 h 34"/>
                <a:gd name="T74" fmla="*/ 16 w 32"/>
                <a:gd name="T75" fmla="*/ 14 h 34"/>
                <a:gd name="T76" fmla="*/ 14 w 32"/>
                <a:gd name="T77" fmla="*/ 13 h 34"/>
                <a:gd name="T78" fmla="*/ 17 w 32"/>
                <a:gd name="T79" fmla="*/ 15 h 34"/>
                <a:gd name="T80" fmla="*/ 19 w 32"/>
                <a:gd name="T81" fmla="*/ 14 h 34"/>
                <a:gd name="T82" fmla="*/ 25 w 32"/>
                <a:gd name="T83" fmla="*/ 22 h 34"/>
                <a:gd name="T84" fmla="*/ 23 w 32"/>
                <a:gd name="T85" fmla="*/ 24 h 34"/>
                <a:gd name="T86" fmla="*/ 17 w 32"/>
                <a:gd name="T87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" h="34">
                  <a:moveTo>
                    <a:pt x="0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3"/>
                    <a:pt x="7" y="4"/>
                    <a:pt x="6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0" y="6"/>
                  </a:lnTo>
                  <a:close/>
                  <a:moveTo>
                    <a:pt x="10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0" y="17"/>
                    <a:pt x="10" y="17"/>
                    <a:pt x="10" y="17"/>
                  </a:cubicBezTo>
                  <a:lnTo>
                    <a:pt x="10" y="9"/>
                  </a:lnTo>
                  <a:close/>
                  <a:moveTo>
                    <a:pt x="2" y="28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2" y="20"/>
                    <a:pt x="2" y="20"/>
                    <a:pt x="2" y="20"/>
                  </a:cubicBezTo>
                  <a:lnTo>
                    <a:pt x="2" y="28"/>
                  </a:lnTo>
                  <a:close/>
                  <a:moveTo>
                    <a:pt x="14" y="13"/>
                  </a:moveTo>
                  <a:cubicBezTo>
                    <a:pt x="16" y="10"/>
                    <a:pt x="18" y="5"/>
                    <a:pt x="19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3"/>
                    <a:pt x="21" y="4"/>
                    <a:pt x="20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1" y="18"/>
                    <a:pt x="31" y="25"/>
                    <a:pt x="31" y="29"/>
                  </a:cubicBezTo>
                  <a:cubicBezTo>
                    <a:pt x="31" y="32"/>
                    <a:pt x="29" y="34"/>
                    <a:pt x="25" y="34"/>
                  </a:cubicBezTo>
                  <a:cubicBezTo>
                    <a:pt x="23" y="34"/>
                    <a:pt x="21" y="34"/>
                    <a:pt x="19" y="34"/>
                  </a:cubicBezTo>
                  <a:cubicBezTo>
                    <a:pt x="19" y="33"/>
                    <a:pt x="18" y="32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21" y="31"/>
                    <a:pt x="23" y="31"/>
                    <a:pt x="25" y="31"/>
                  </a:cubicBezTo>
                  <a:cubicBezTo>
                    <a:pt x="27" y="31"/>
                    <a:pt x="28" y="30"/>
                    <a:pt x="28" y="28"/>
                  </a:cubicBezTo>
                  <a:cubicBezTo>
                    <a:pt x="28" y="24"/>
                    <a:pt x="29" y="18"/>
                    <a:pt x="2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11"/>
                    <a:pt x="17" y="13"/>
                    <a:pt x="16" y="14"/>
                  </a:cubicBezTo>
                  <a:cubicBezTo>
                    <a:pt x="16" y="14"/>
                    <a:pt x="15" y="14"/>
                    <a:pt x="14" y="13"/>
                  </a:cubicBezTo>
                  <a:close/>
                  <a:moveTo>
                    <a:pt x="17" y="15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22" y="17"/>
                    <a:pt x="24" y="20"/>
                    <a:pt x="25" y="22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1"/>
                    <a:pt x="19" y="18"/>
                    <a:pt x="1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24"/>
            <p:cNvSpPr>
              <a:spLocks noEditPoints="1"/>
            </p:cNvSpPr>
            <p:nvPr userDrawn="1"/>
          </p:nvSpPr>
          <p:spPr bwMode="auto">
            <a:xfrm>
              <a:off x="8292644" y="-265661"/>
              <a:ext cx="58415" cy="57636"/>
            </a:xfrm>
            <a:custGeom>
              <a:avLst/>
              <a:gdLst>
                <a:gd name="T0" fmla="*/ 10 w 35"/>
                <a:gd name="T1" fmla="*/ 0 h 34"/>
                <a:gd name="T2" fmla="*/ 10 w 35"/>
                <a:gd name="T3" fmla="*/ 1 h 34"/>
                <a:gd name="T4" fmla="*/ 16 w 35"/>
                <a:gd name="T5" fmla="*/ 9 h 34"/>
                <a:gd name="T6" fmla="*/ 14 w 35"/>
                <a:gd name="T7" fmla="*/ 11 h 34"/>
                <a:gd name="T8" fmla="*/ 9 w 35"/>
                <a:gd name="T9" fmla="*/ 3 h 34"/>
                <a:gd name="T10" fmla="*/ 2 w 35"/>
                <a:gd name="T11" fmla="*/ 15 h 34"/>
                <a:gd name="T12" fmla="*/ 0 w 35"/>
                <a:gd name="T13" fmla="*/ 12 h 34"/>
                <a:gd name="T14" fmla="*/ 8 w 35"/>
                <a:gd name="T15" fmla="*/ 0 h 34"/>
                <a:gd name="T16" fmla="*/ 10 w 35"/>
                <a:gd name="T17" fmla="*/ 0 h 34"/>
                <a:gd name="T18" fmla="*/ 3 w 35"/>
                <a:gd name="T19" fmla="*/ 24 h 34"/>
                <a:gd name="T20" fmla="*/ 5 w 35"/>
                <a:gd name="T21" fmla="*/ 22 h 34"/>
                <a:gd name="T22" fmla="*/ 8 w 35"/>
                <a:gd name="T23" fmla="*/ 26 h 34"/>
                <a:gd name="T24" fmla="*/ 12 w 35"/>
                <a:gd name="T25" fmla="*/ 18 h 34"/>
                <a:gd name="T26" fmla="*/ 2 w 35"/>
                <a:gd name="T27" fmla="*/ 18 h 34"/>
                <a:gd name="T28" fmla="*/ 2 w 35"/>
                <a:gd name="T29" fmla="*/ 16 h 34"/>
                <a:gd name="T30" fmla="*/ 15 w 35"/>
                <a:gd name="T31" fmla="*/ 16 h 34"/>
                <a:gd name="T32" fmla="*/ 15 w 35"/>
                <a:gd name="T33" fmla="*/ 18 h 34"/>
                <a:gd name="T34" fmla="*/ 10 w 35"/>
                <a:gd name="T35" fmla="*/ 28 h 34"/>
                <a:gd name="T36" fmla="*/ 13 w 35"/>
                <a:gd name="T37" fmla="*/ 32 h 34"/>
                <a:gd name="T38" fmla="*/ 10 w 35"/>
                <a:gd name="T39" fmla="*/ 33 h 34"/>
                <a:gd name="T40" fmla="*/ 3 w 35"/>
                <a:gd name="T41" fmla="*/ 24 h 34"/>
                <a:gd name="T42" fmla="*/ 7 w 35"/>
                <a:gd name="T43" fmla="*/ 9 h 34"/>
                <a:gd name="T44" fmla="*/ 9 w 35"/>
                <a:gd name="T45" fmla="*/ 8 h 34"/>
                <a:gd name="T46" fmla="*/ 12 w 35"/>
                <a:gd name="T47" fmla="*/ 13 h 34"/>
                <a:gd name="T48" fmla="*/ 9 w 35"/>
                <a:gd name="T49" fmla="*/ 15 h 34"/>
                <a:gd name="T50" fmla="*/ 7 w 35"/>
                <a:gd name="T51" fmla="*/ 9 h 34"/>
                <a:gd name="T52" fmla="*/ 24 w 35"/>
                <a:gd name="T53" fmla="*/ 12 h 34"/>
                <a:gd name="T54" fmla="*/ 27 w 35"/>
                <a:gd name="T55" fmla="*/ 12 h 34"/>
                <a:gd name="T56" fmla="*/ 27 w 35"/>
                <a:gd name="T57" fmla="*/ 17 h 34"/>
                <a:gd name="T58" fmla="*/ 26 w 35"/>
                <a:gd name="T59" fmla="*/ 24 h 34"/>
                <a:gd name="T60" fmla="*/ 35 w 35"/>
                <a:gd name="T61" fmla="*/ 32 h 34"/>
                <a:gd name="T62" fmla="*/ 33 w 35"/>
                <a:gd name="T63" fmla="*/ 34 h 34"/>
                <a:gd name="T64" fmla="*/ 25 w 35"/>
                <a:gd name="T65" fmla="*/ 26 h 34"/>
                <a:gd name="T66" fmla="*/ 24 w 35"/>
                <a:gd name="T67" fmla="*/ 27 h 34"/>
                <a:gd name="T68" fmla="*/ 16 w 35"/>
                <a:gd name="T69" fmla="*/ 34 h 34"/>
                <a:gd name="T70" fmla="*/ 14 w 35"/>
                <a:gd name="T71" fmla="*/ 32 h 34"/>
                <a:gd name="T72" fmla="*/ 22 w 35"/>
                <a:gd name="T73" fmla="*/ 26 h 34"/>
                <a:gd name="T74" fmla="*/ 24 w 35"/>
                <a:gd name="T75" fmla="*/ 17 h 34"/>
                <a:gd name="T76" fmla="*/ 24 w 35"/>
                <a:gd name="T77" fmla="*/ 12 h 34"/>
                <a:gd name="T78" fmla="*/ 17 w 35"/>
                <a:gd name="T79" fmla="*/ 8 h 34"/>
                <a:gd name="T80" fmla="*/ 23 w 35"/>
                <a:gd name="T81" fmla="*/ 8 h 34"/>
                <a:gd name="T82" fmla="*/ 24 w 35"/>
                <a:gd name="T83" fmla="*/ 3 h 34"/>
                <a:gd name="T84" fmla="*/ 15 w 35"/>
                <a:gd name="T85" fmla="*/ 3 h 34"/>
                <a:gd name="T86" fmla="*/ 15 w 35"/>
                <a:gd name="T87" fmla="*/ 1 h 34"/>
                <a:gd name="T88" fmla="*/ 35 w 35"/>
                <a:gd name="T89" fmla="*/ 1 h 34"/>
                <a:gd name="T90" fmla="*/ 35 w 35"/>
                <a:gd name="T91" fmla="*/ 3 h 34"/>
                <a:gd name="T92" fmla="*/ 27 w 35"/>
                <a:gd name="T93" fmla="*/ 3 h 34"/>
                <a:gd name="T94" fmla="*/ 26 w 35"/>
                <a:gd name="T95" fmla="*/ 8 h 34"/>
                <a:gd name="T96" fmla="*/ 34 w 35"/>
                <a:gd name="T97" fmla="*/ 8 h 34"/>
                <a:gd name="T98" fmla="*/ 34 w 35"/>
                <a:gd name="T99" fmla="*/ 25 h 34"/>
                <a:gd name="T100" fmla="*/ 31 w 35"/>
                <a:gd name="T101" fmla="*/ 25 h 34"/>
                <a:gd name="T102" fmla="*/ 31 w 35"/>
                <a:gd name="T103" fmla="*/ 11 h 34"/>
                <a:gd name="T104" fmla="*/ 19 w 35"/>
                <a:gd name="T105" fmla="*/ 11 h 34"/>
                <a:gd name="T106" fmla="*/ 19 w 35"/>
                <a:gd name="T107" fmla="*/ 25 h 34"/>
                <a:gd name="T108" fmla="*/ 17 w 35"/>
                <a:gd name="T109" fmla="*/ 25 h 34"/>
                <a:gd name="T110" fmla="*/ 17 w 35"/>
                <a:gd name="T111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" h="34">
                  <a:moveTo>
                    <a:pt x="10" y="0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2" y="3"/>
                    <a:pt x="14" y="6"/>
                    <a:pt x="16" y="9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8"/>
                    <a:pt x="11" y="5"/>
                    <a:pt x="9" y="3"/>
                  </a:cubicBezTo>
                  <a:cubicBezTo>
                    <a:pt x="7" y="7"/>
                    <a:pt x="5" y="11"/>
                    <a:pt x="2" y="15"/>
                  </a:cubicBezTo>
                  <a:cubicBezTo>
                    <a:pt x="2" y="14"/>
                    <a:pt x="1" y="13"/>
                    <a:pt x="0" y="12"/>
                  </a:cubicBezTo>
                  <a:cubicBezTo>
                    <a:pt x="3" y="9"/>
                    <a:pt x="6" y="5"/>
                    <a:pt x="8" y="0"/>
                  </a:cubicBezTo>
                  <a:lnTo>
                    <a:pt x="10" y="0"/>
                  </a:lnTo>
                  <a:close/>
                  <a:moveTo>
                    <a:pt x="3" y="24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6" y="24"/>
                    <a:pt x="7" y="25"/>
                    <a:pt x="8" y="26"/>
                  </a:cubicBezTo>
                  <a:cubicBezTo>
                    <a:pt x="10" y="24"/>
                    <a:pt x="11" y="21"/>
                    <a:pt x="1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22"/>
                    <a:pt x="11" y="26"/>
                    <a:pt x="10" y="28"/>
                  </a:cubicBezTo>
                  <a:cubicBezTo>
                    <a:pt x="11" y="29"/>
                    <a:pt x="12" y="31"/>
                    <a:pt x="13" y="32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8" y="30"/>
                    <a:pt x="5" y="27"/>
                    <a:pt x="3" y="24"/>
                  </a:cubicBezTo>
                  <a:close/>
                  <a:moveTo>
                    <a:pt x="7" y="9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10" y="10"/>
                    <a:pt x="11" y="12"/>
                    <a:pt x="12" y="13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3"/>
                    <a:pt x="8" y="11"/>
                    <a:pt x="7" y="9"/>
                  </a:cubicBezTo>
                  <a:close/>
                  <a:moveTo>
                    <a:pt x="24" y="12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6" y="22"/>
                    <a:pt x="26" y="24"/>
                  </a:cubicBezTo>
                  <a:cubicBezTo>
                    <a:pt x="29" y="26"/>
                    <a:pt x="32" y="29"/>
                    <a:pt x="35" y="32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1" y="31"/>
                    <a:pt x="28" y="29"/>
                    <a:pt x="25" y="26"/>
                  </a:cubicBezTo>
                  <a:cubicBezTo>
                    <a:pt x="25" y="27"/>
                    <a:pt x="24" y="27"/>
                    <a:pt x="24" y="27"/>
                  </a:cubicBezTo>
                  <a:cubicBezTo>
                    <a:pt x="23" y="30"/>
                    <a:pt x="20" y="32"/>
                    <a:pt x="16" y="34"/>
                  </a:cubicBezTo>
                  <a:cubicBezTo>
                    <a:pt x="15" y="33"/>
                    <a:pt x="14" y="32"/>
                    <a:pt x="14" y="32"/>
                  </a:cubicBezTo>
                  <a:cubicBezTo>
                    <a:pt x="18" y="30"/>
                    <a:pt x="20" y="28"/>
                    <a:pt x="22" y="26"/>
                  </a:cubicBezTo>
                  <a:cubicBezTo>
                    <a:pt x="23" y="24"/>
                    <a:pt x="24" y="21"/>
                    <a:pt x="24" y="17"/>
                  </a:cubicBezTo>
                  <a:lnTo>
                    <a:pt x="24" y="12"/>
                  </a:lnTo>
                  <a:close/>
                  <a:moveTo>
                    <a:pt x="17" y="8"/>
                  </a:moveTo>
                  <a:cubicBezTo>
                    <a:pt x="23" y="8"/>
                    <a:pt x="23" y="8"/>
                    <a:pt x="23" y="8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7" y="25"/>
                    <a:pt x="17" y="25"/>
                    <a:pt x="17" y="25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25"/>
            <p:cNvSpPr>
              <a:spLocks noEditPoints="1"/>
            </p:cNvSpPr>
            <p:nvPr userDrawn="1"/>
          </p:nvSpPr>
          <p:spPr bwMode="auto">
            <a:xfrm>
              <a:off x="8409473" y="-264103"/>
              <a:ext cx="58415" cy="54520"/>
            </a:xfrm>
            <a:custGeom>
              <a:avLst/>
              <a:gdLst>
                <a:gd name="T0" fmla="*/ 0 w 35"/>
                <a:gd name="T1" fmla="*/ 20 h 32"/>
                <a:gd name="T2" fmla="*/ 24 w 35"/>
                <a:gd name="T3" fmla="*/ 20 h 32"/>
                <a:gd name="T4" fmla="*/ 24 w 35"/>
                <a:gd name="T5" fmla="*/ 17 h 32"/>
                <a:gd name="T6" fmla="*/ 27 w 35"/>
                <a:gd name="T7" fmla="*/ 17 h 32"/>
                <a:gd name="T8" fmla="*/ 27 w 35"/>
                <a:gd name="T9" fmla="*/ 20 h 32"/>
                <a:gd name="T10" fmla="*/ 35 w 35"/>
                <a:gd name="T11" fmla="*/ 20 h 32"/>
                <a:gd name="T12" fmla="*/ 35 w 35"/>
                <a:gd name="T13" fmla="*/ 22 h 32"/>
                <a:gd name="T14" fmla="*/ 27 w 35"/>
                <a:gd name="T15" fmla="*/ 22 h 32"/>
                <a:gd name="T16" fmla="*/ 27 w 35"/>
                <a:gd name="T17" fmla="*/ 28 h 32"/>
                <a:gd name="T18" fmla="*/ 23 w 35"/>
                <a:gd name="T19" fmla="*/ 32 h 32"/>
                <a:gd name="T20" fmla="*/ 17 w 35"/>
                <a:gd name="T21" fmla="*/ 32 h 32"/>
                <a:gd name="T22" fmla="*/ 17 w 35"/>
                <a:gd name="T23" fmla="*/ 29 h 32"/>
                <a:gd name="T24" fmla="*/ 22 w 35"/>
                <a:gd name="T25" fmla="*/ 29 h 32"/>
                <a:gd name="T26" fmla="*/ 24 w 35"/>
                <a:gd name="T27" fmla="*/ 27 h 32"/>
                <a:gd name="T28" fmla="*/ 24 w 35"/>
                <a:gd name="T29" fmla="*/ 22 h 32"/>
                <a:gd name="T30" fmla="*/ 0 w 35"/>
                <a:gd name="T31" fmla="*/ 22 h 32"/>
                <a:gd name="T32" fmla="*/ 0 w 35"/>
                <a:gd name="T33" fmla="*/ 20 h 32"/>
                <a:gd name="T34" fmla="*/ 9 w 35"/>
                <a:gd name="T35" fmla="*/ 14 h 32"/>
                <a:gd name="T36" fmla="*/ 28 w 35"/>
                <a:gd name="T37" fmla="*/ 14 h 32"/>
                <a:gd name="T38" fmla="*/ 31 w 35"/>
                <a:gd name="T39" fmla="*/ 12 h 32"/>
                <a:gd name="T40" fmla="*/ 32 w 35"/>
                <a:gd name="T41" fmla="*/ 8 h 32"/>
                <a:gd name="T42" fmla="*/ 34 w 35"/>
                <a:gd name="T43" fmla="*/ 9 h 32"/>
                <a:gd name="T44" fmla="*/ 33 w 35"/>
                <a:gd name="T45" fmla="*/ 13 h 32"/>
                <a:gd name="T46" fmla="*/ 28 w 35"/>
                <a:gd name="T47" fmla="*/ 16 h 32"/>
                <a:gd name="T48" fmla="*/ 9 w 35"/>
                <a:gd name="T49" fmla="*/ 16 h 32"/>
                <a:gd name="T50" fmla="*/ 4 w 35"/>
                <a:gd name="T51" fmla="*/ 12 h 32"/>
                <a:gd name="T52" fmla="*/ 4 w 35"/>
                <a:gd name="T53" fmla="*/ 0 h 32"/>
                <a:gd name="T54" fmla="*/ 29 w 35"/>
                <a:gd name="T55" fmla="*/ 0 h 32"/>
                <a:gd name="T56" fmla="*/ 29 w 35"/>
                <a:gd name="T57" fmla="*/ 10 h 32"/>
                <a:gd name="T58" fmla="*/ 26 w 35"/>
                <a:gd name="T59" fmla="*/ 10 h 32"/>
                <a:gd name="T60" fmla="*/ 26 w 35"/>
                <a:gd name="T61" fmla="*/ 9 h 32"/>
                <a:gd name="T62" fmla="*/ 7 w 35"/>
                <a:gd name="T63" fmla="*/ 9 h 32"/>
                <a:gd name="T64" fmla="*/ 7 w 35"/>
                <a:gd name="T65" fmla="*/ 11 h 32"/>
                <a:gd name="T66" fmla="*/ 9 w 35"/>
                <a:gd name="T67" fmla="*/ 14 h 32"/>
                <a:gd name="T68" fmla="*/ 6 w 35"/>
                <a:gd name="T69" fmla="*/ 24 h 32"/>
                <a:gd name="T70" fmla="*/ 8 w 35"/>
                <a:gd name="T71" fmla="*/ 22 h 32"/>
                <a:gd name="T72" fmla="*/ 14 w 35"/>
                <a:gd name="T73" fmla="*/ 27 h 32"/>
                <a:gd name="T74" fmla="*/ 12 w 35"/>
                <a:gd name="T75" fmla="*/ 29 h 32"/>
                <a:gd name="T76" fmla="*/ 6 w 35"/>
                <a:gd name="T77" fmla="*/ 24 h 32"/>
                <a:gd name="T78" fmla="*/ 7 w 35"/>
                <a:gd name="T79" fmla="*/ 2 h 32"/>
                <a:gd name="T80" fmla="*/ 7 w 35"/>
                <a:gd name="T81" fmla="*/ 7 h 32"/>
                <a:gd name="T82" fmla="*/ 26 w 35"/>
                <a:gd name="T83" fmla="*/ 7 h 32"/>
                <a:gd name="T84" fmla="*/ 26 w 35"/>
                <a:gd name="T85" fmla="*/ 2 h 32"/>
                <a:gd name="T86" fmla="*/ 7 w 35"/>
                <a:gd name="T87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5" h="32">
                  <a:moveTo>
                    <a:pt x="0" y="20"/>
                  </a:moveTo>
                  <a:cubicBezTo>
                    <a:pt x="24" y="20"/>
                    <a:pt x="24" y="20"/>
                    <a:pt x="24" y="20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31"/>
                    <a:pt x="26" y="32"/>
                    <a:pt x="23" y="32"/>
                  </a:cubicBezTo>
                  <a:cubicBezTo>
                    <a:pt x="22" y="32"/>
                    <a:pt x="20" y="32"/>
                    <a:pt x="17" y="32"/>
                  </a:cubicBezTo>
                  <a:cubicBezTo>
                    <a:pt x="17" y="31"/>
                    <a:pt x="17" y="30"/>
                    <a:pt x="17" y="29"/>
                  </a:cubicBezTo>
                  <a:cubicBezTo>
                    <a:pt x="19" y="29"/>
                    <a:pt x="20" y="29"/>
                    <a:pt x="22" y="29"/>
                  </a:cubicBezTo>
                  <a:cubicBezTo>
                    <a:pt x="24" y="29"/>
                    <a:pt x="24" y="29"/>
                    <a:pt x="24" y="2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20"/>
                  </a:lnTo>
                  <a:close/>
                  <a:moveTo>
                    <a:pt x="9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31" y="13"/>
                    <a:pt x="31" y="12"/>
                  </a:cubicBezTo>
                  <a:cubicBezTo>
                    <a:pt x="31" y="11"/>
                    <a:pt x="31" y="10"/>
                    <a:pt x="32" y="8"/>
                  </a:cubicBezTo>
                  <a:cubicBezTo>
                    <a:pt x="32" y="8"/>
                    <a:pt x="33" y="9"/>
                    <a:pt x="34" y="9"/>
                  </a:cubicBezTo>
                  <a:cubicBezTo>
                    <a:pt x="34" y="11"/>
                    <a:pt x="34" y="12"/>
                    <a:pt x="33" y="13"/>
                  </a:cubicBezTo>
                  <a:cubicBezTo>
                    <a:pt x="33" y="15"/>
                    <a:pt x="31" y="16"/>
                    <a:pt x="28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5" y="16"/>
                    <a:pt x="4" y="15"/>
                    <a:pt x="4" y="1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4"/>
                    <a:pt x="9" y="14"/>
                  </a:cubicBezTo>
                  <a:close/>
                  <a:moveTo>
                    <a:pt x="6" y="24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11" y="24"/>
                    <a:pt x="13" y="26"/>
                    <a:pt x="14" y="27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27"/>
                    <a:pt x="8" y="25"/>
                    <a:pt x="6" y="24"/>
                  </a:cubicBezTo>
                  <a:close/>
                  <a:moveTo>
                    <a:pt x="7" y="2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2"/>
                    <a:pt x="26" y="2"/>
                    <a:pt x="26" y="2"/>
                  </a:cubicBezTo>
                  <a:lnTo>
                    <a:pt x="7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26"/>
            <p:cNvSpPr>
              <a:spLocks noEditPoints="1"/>
            </p:cNvSpPr>
            <p:nvPr userDrawn="1"/>
          </p:nvSpPr>
          <p:spPr bwMode="auto">
            <a:xfrm>
              <a:off x="8523964" y="-267218"/>
              <a:ext cx="58415" cy="59193"/>
            </a:xfrm>
            <a:custGeom>
              <a:avLst/>
              <a:gdLst>
                <a:gd name="T0" fmla="*/ 1 w 35"/>
                <a:gd name="T1" fmla="*/ 11 h 35"/>
                <a:gd name="T2" fmla="*/ 14 w 35"/>
                <a:gd name="T3" fmla="*/ 11 h 35"/>
                <a:gd name="T4" fmla="*/ 14 w 35"/>
                <a:gd name="T5" fmla="*/ 7 h 35"/>
                <a:gd name="T6" fmla="*/ 4 w 35"/>
                <a:gd name="T7" fmla="*/ 7 h 35"/>
                <a:gd name="T8" fmla="*/ 4 w 35"/>
                <a:gd name="T9" fmla="*/ 5 h 35"/>
                <a:gd name="T10" fmla="*/ 14 w 35"/>
                <a:gd name="T11" fmla="*/ 5 h 35"/>
                <a:gd name="T12" fmla="*/ 14 w 35"/>
                <a:gd name="T13" fmla="*/ 0 h 35"/>
                <a:gd name="T14" fmla="*/ 17 w 35"/>
                <a:gd name="T15" fmla="*/ 0 h 35"/>
                <a:gd name="T16" fmla="*/ 17 w 35"/>
                <a:gd name="T17" fmla="*/ 5 h 35"/>
                <a:gd name="T18" fmla="*/ 26 w 35"/>
                <a:gd name="T19" fmla="*/ 5 h 35"/>
                <a:gd name="T20" fmla="*/ 26 w 35"/>
                <a:gd name="T21" fmla="*/ 7 h 35"/>
                <a:gd name="T22" fmla="*/ 17 w 35"/>
                <a:gd name="T23" fmla="*/ 7 h 35"/>
                <a:gd name="T24" fmla="*/ 17 w 35"/>
                <a:gd name="T25" fmla="*/ 11 h 35"/>
                <a:gd name="T26" fmla="*/ 20 w 35"/>
                <a:gd name="T27" fmla="*/ 11 h 35"/>
                <a:gd name="T28" fmla="*/ 30 w 35"/>
                <a:gd name="T29" fmla="*/ 2 h 35"/>
                <a:gd name="T30" fmla="*/ 32 w 35"/>
                <a:gd name="T31" fmla="*/ 4 h 35"/>
                <a:gd name="T32" fmla="*/ 25 w 35"/>
                <a:gd name="T33" fmla="*/ 11 h 35"/>
                <a:gd name="T34" fmla="*/ 35 w 35"/>
                <a:gd name="T35" fmla="*/ 11 h 35"/>
                <a:gd name="T36" fmla="*/ 35 w 35"/>
                <a:gd name="T37" fmla="*/ 14 h 35"/>
                <a:gd name="T38" fmla="*/ 22 w 35"/>
                <a:gd name="T39" fmla="*/ 14 h 35"/>
                <a:gd name="T40" fmla="*/ 15 w 35"/>
                <a:gd name="T41" fmla="*/ 18 h 35"/>
                <a:gd name="T42" fmla="*/ 29 w 35"/>
                <a:gd name="T43" fmla="*/ 18 h 35"/>
                <a:gd name="T44" fmla="*/ 29 w 35"/>
                <a:gd name="T45" fmla="*/ 35 h 35"/>
                <a:gd name="T46" fmla="*/ 26 w 35"/>
                <a:gd name="T47" fmla="*/ 35 h 35"/>
                <a:gd name="T48" fmla="*/ 26 w 35"/>
                <a:gd name="T49" fmla="*/ 33 h 35"/>
                <a:gd name="T50" fmla="*/ 10 w 35"/>
                <a:gd name="T51" fmla="*/ 33 h 35"/>
                <a:gd name="T52" fmla="*/ 10 w 35"/>
                <a:gd name="T53" fmla="*/ 35 h 35"/>
                <a:gd name="T54" fmla="*/ 7 w 35"/>
                <a:gd name="T55" fmla="*/ 35 h 35"/>
                <a:gd name="T56" fmla="*/ 7 w 35"/>
                <a:gd name="T57" fmla="*/ 22 h 35"/>
                <a:gd name="T58" fmla="*/ 1 w 35"/>
                <a:gd name="T59" fmla="*/ 24 h 35"/>
                <a:gd name="T60" fmla="*/ 0 w 35"/>
                <a:gd name="T61" fmla="*/ 21 h 35"/>
                <a:gd name="T62" fmla="*/ 17 w 35"/>
                <a:gd name="T63" fmla="*/ 14 h 35"/>
                <a:gd name="T64" fmla="*/ 1 w 35"/>
                <a:gd name="T65" fmla="*/ 14 h 35"/>
                <a:gd name="T66" fmla="*/ 1 w 35"/>
                <a:gd name="T67" fmla="*/ 11 h 35"/>
                <a:gd name="T68" fmla="*/ 10 w 35"/>
                <a:gd name="T69" fmla="*/ 20 h 35"/>
                <a:gd name="T70" fmla="*/ 10 w 35"/>
                <a:gd name="T71" fmla="*/ 24 h 35"/>
                <a:gd name="T72" fmla="*/ 26 w 35"/>
                <a:gd name="T73" fmla="*/ 24 h 35"/>
                <a:gd name="T74" fmla="*/ 26 w 35"/>
                <a:gd name="T75" fmla="*/ 20 h 35"/>
                <a:gd name="T76" fmla="*/ 11 w 35"/>
                <a:gd name="T77" fmla="*/ 20 h 35"/>
                <a:gd name="T78" fmla="*/ 10 w 35"/>
                <a:gd name="T79" fmla="*/ 20 h 35"/>
                <a:gd name="T80" fmla="*/ 10 w 35"/>
                <a:gd name="T81" fmla="*/ 30 h 35"/>
                <a:gd name="T82" fmla="*/ 26 w 35"/>
                <a:gd name="T83" fmla="*/ 30 h 35"/>
                <a:gd name="T84" fmla="*/ 26 w 35"/>
                <a:gd name="T85" fmla="*/ 26 h 35"/>
                <a:gd name="T86" fmla="*/ 10 w 35"/>
                <a:gd name="T87" fmla="*/ 26 h 35"/>
                <a:gd name="T88" fmla="*/ 10 w 35"/>
                <a:gd name="T8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5" h="35">
                  <a:moveTo>
                    <a:pt x="1" y="11"/>
                  </a:moveTo>
                  <a:cubicBezTo>
                    <a:pt x="14" y="11"/>
                    <a:pt x="14" y="11"/>
                    <a:pt x="14" y="1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4" y="9"/>
                    <a:pt x="27" y="6"/>
                    <a:pt x="30" y="2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0" y="7"/>
                    <a:pt x="28" y="9"/>
                    <a:pt x="25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0" y="15"/>
                    <a:pt x="18" y="16"/>
                    <a:pt x="15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4" y="23"/>
                    <a:pt x="1" y="24"/>
                  </a:cubicBezTo>
                  <a:cubicBezTo>
                    <a:pt x="1" y="23"/>
                    <a:pt x="1" y="22"/>
                    <a:pt x="0" y="21"/>
                  </a:cubicBezTo>
                  <a:cubicBezTo>
                    <a:pt x="6" y="19"/>
                    <a:pt x="12" y="17"/>
                    <a:pt x="17" y="14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1"/>
                  </a:lnTo>
                  <a:close/>
                  <a:moveTo>
                    <a:pt x="10" y="20"/>
                  </a:moveTo>
                  <a:cubicBezTo>
                    <a:pt x="10" y="24"/>
                    <a:pt x="10" y="24"/>
                    <a:pt x="10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0" y="20"/>
                    <a:pt x="10" y="20"/>
                  </a:cubicBezTo>
                  <a:close/>
                  <a:moveTo>
                    <a:pt x="10" y="3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10" y="26"/>
                    <a:pt x="10" y="26"/>
                    <a:pt x="10" y="26"/>
                  </a:cubicBezTo>
                  <a:lnTo>
                    <a:pt x="1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5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图片 7"/>
          <p:cNvPicPr>
            <a:picLocks noChangeAspect="1"/>
          </p:cNvPicPr>
          <p:nvPr/>
        </p:nvPicPr>
        <p:blipFill rotWithShape="1">
          <a:blip r:embed="rId5"/>
          <a:srcRect l="25965" t="26296"/>
          <a:stretch>
            <a:fillRect/>
          </a:stretch>
        </p:blipFill>
        <p:spPr>
          <a:xfrm flipH="1">
            <a:off x="11124826" y="0"/>
            <a:ext cx="1067174" cy="10647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图片 10" descr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842" y="364340"/>
            <a:ext cx="548055" cy="576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图片 8" descr="图片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43969" y="6369050"/>
            <a:ext cx="11304001" cy="7707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标题 3"/>
          <p:cNvSpPr txBox="1"/>
          <p:nvPr userDrawn="1"/>
        </p:nvSpPr>
        <p:spPr>
          <a:xfrm>
            <a:off x="1196340" y="6463579"/>
            <a:ext cx="9799320" cy="359411"/>
          </a:xfrm>
          <a:prstGeom prst="rect">
            <a:avLst/>
          </a:prstGeom>
          <a:ln w="12700">
            <a:miter lim="400000"/>
          </a:ln>
        </p:spPr>
        <p:txBody>
          <a:bodyPr lIns="46799" tIns="46799" rIns="46799" bIns="46799" anchor="b">
            <a:normAutofit/>
          </a:bodyPr>
          <a:lstStyle>
            <a:lvl1pPr algn="ctr">
              <a:lnSpc>
                <a:spcPct val="90000"/>
              </a:lnSpc>
              <a:defRPr spc="2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sz="1600" dirty="0" smtClean="0"/>
              <a:t>university.360.cn</a:t>
            </a:r>
            <a:endParaRPr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none" spc="0" baseline="0">
          <a:ln>
            <a:noFill/>
          </a:ln>
          <a:solidFill>
            <a:srgbClr val="3B3838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0" marR="0" indent="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ctr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ln>
            <a:noFill/>
          </a:ln>
          <a:solidFill>
            <a:srgbClr val="595959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23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44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65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86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85.xml"/><Relationship Id="rId2" Type="http://schemas.openxmlformats.org/officeDocument/2006/relationships/tags" Target="../tags/tag67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107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106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tags" Target="../tags/tag128.xml"/><Relationship Id="rId22" Type="http://schemas.openxmlformats.org/officeDocument/2006/relationships/image" Target="../media/image23.svg"/><Relationship Id="rId21" Type="http://schemas.openxmlformats.org/officeDocument/2006/relationships/image" Target="../media/image22.png"/><Relationship Id="rId20" Type="http://schemas.openxmlformats.org/officeDocument/2006/relationships/tags" Target="../tags/tag127.xml"/><Relationship Id="rId2" Type="http://schemas.openxmlformats.org/officeDocument/2006/relationships/tags" Target="../tags/tag109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>
                <a:latin typeface="黑体" panose="02010609060101010101" charset="-122"/>
                <a:ea typeface="黑体" panose="02010609060101010101" charset="-122"/>
              </a:rPr>
              <a:t>南开大学</a:t>
            </a:r>
            <a:r>
              <a:rPr kumimoji="1" lang="en-US" altLang="zh-CN" dirty="0" smtClean="0">
                <a:latin typeface="黑体" panose="02010609060101010101" charset="-122"/>
                <a:ea typeface="黑体" panose="02010609060101010101" charset="-122"/>
              </a:rPr>
              <a:t>11</a:t>
            </a:r>
            <a:r>
              <a:rPr kumimoji="1" lang="zh-CN" altLang="en-US" dirty="0" smtClean="0">
                <a:latin typeface="黑体" panose="02010609060101010101" charset="-122"/>
                <a:ea typeface="黑体" panose="02010609060101010101" charset="-122"/>
              </a:rPr>
              <a:t>小组（小鸟</a:t>
            </a:r>
            <a:r>
              <a:rPr kumimoji="1" lang="zh-CN" altLang="en-US" dirty="0" smtClean="0">
                <a:latin typeface="黑体" panose="02010609060101010101" charset="-122"/>
                <a:ea typeface="黑体" panose="02010609060101010101" charset="-122"/>
              </a:rPr>
              <a:t>壁纸）</a:t>
            </a:r>
            <a:endParaRPr kumimoji="1" lang="zh-CN" altLang="en-US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982663" y="3429001"/>
            <a:ext cx="10226675" cy="1189400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漏洞解析答辩</a:t>
            </a:r>
            <a:endParaRPr kumimoji="1" lang="zh-CN" altLang="en-US" dirty="0"/>
          </a:p>
          <a:p>
            <a:endParaRPr kumimoji="1" lang="zh-CN" altLang="en-US" dirty="0"/>
          </a:p>
          <a:p>
            <a:r>
              <a:rPr kumimoji="1" lang="zh-CN" altLang="en-US" dirty="0"/>
              <a:t>答辩小组成员：宋昊谦</a:t>
            </a:r>
            <a:r>
              <a:rPr kumimoji="1" lang="en-US" altLang="zh-CN" dirty="0"/>
              <a:t> </a:t>
            </a:r>
            <a:r>
              <a:rPr kumimoji="1" lang="zh-CN" altLang="en-US" dirty="0"/>
              <a:t>朱子昂</a:t>
            </a:r>
            <a:r>
              <a:rPr kumimoji="1" lang="en-US" altLang="zh-CN" dirty="0"/>
              <a:t> </a:t>
            </a:r>
            <a:r>
              <a:rPr kumimoji="1" lang="zh-CN" altLang="en-US" dirty="0"/>
              <a:t>马</a:t>
            </a:r>
            <a:r>
              <a:rPr kumimoji="1" lang="zh-CN" altLang="en-US" dirty="0"/>
              <a:t>淏怡</a:t>
            </a:r>
            <a:r>
              <a:rPr kumimoji="1" lang="en-US" altLang="zh-CN" dirty="0"/>
              <a:t> </a:t>
            </a:r>
            <a:r>
              <a:rPr kumimoji="1" lang="zh-CN" altLang="en-US" dirty="0"/>
              <a:t>郭佳成</a:t>
            </a:r>
            <a:r>
              <a:rPr kumimoji="1" lang="en-US" altLang="zh-CN" dirty="0"/>
              <a:t> </a:t>
            </a:r>
            <a:r>
              <a:rPr kumimoji="1" lang="zh-CN" altLang="en-US" dirty="0"/>
              <a:t>何叶</a:t>
            </a:r>
            <a:r>
              <a:rPr kumimoji="1" lang="en-US" altLang="zh-CN" dirty="0"/>
              <a:t> </a:t>
            </a:r>
            <a:endParaRPr kumimoji="1" lang="en-US" altLang="zh-C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85427" y="1226305"/>
            <a:ext cx="8207032" cy="420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 eaLnBrk="1">
              <a:lnSpc>
                <a:spcPct val="250000"/>
              </a:lnSpc>
            </a:pPr>
            <a:r>
              <a:rPr lang="zh-CN" altLang="en-US" sz="2135" b="1" dirty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 项目任务概述</a:t>
            </a:r>
            <a:endParaRPr lang="zh-CN" altLang="en-US" sz="2135" b="1" dirty="0">
              <a:solidFill>
                <a:prstClr val="black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defTabSz="1219200" eaLnBrk="1">
              <a:lnSpc>
                <a:spcPct val="250000"/>
              </a:lnSpc>
            </a:pPr>
            <a:r>
              <a:rPr lang="zh-CN" altLang="en-US" sz="2135" b="1" dirty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2. 项目小组分工及安排</a:t>
            </a:r>
            <a:endParaRPr lang="zh-CN" altLang="en-US" sz="2135" b="1" dirty="0">
              <a:solidFill>
                <a:prstClr val="black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defTabSz="1219200" eaLnBrk="1">
              <a:lnSpc>
                <a:spcPct val="250000"/>
              </a:lnSpc>
            </a:pPr>
            <a:r>
              <a:rPr lang="zh-CN" altLang="en-US" sz="2135" b="1" dirty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3.项目完成情况的思考与复盘</a:t>
            </a:r>
            <a:endParaRPr lang="zh-CN" altLang="en-US" sz="2135" b="1" dirty="0">
              <a:solidFill>
                <a:prstClr val="black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defTabSz="1219200" eaLnBrk="1">
              <a:lnSpc>
                <a:spcPct val="250000"/>
              </a:lnSpc>
            </a:pPr>
            <a:r>
              <a:rPr lang="zh-CN" altLang="en-US" sz="2135" b="1" dirty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4.其他关键事项</a:t>
            </a:r>
            <a:endParaRPr lang="zh-CN" altLang="en-US" sz="2135" b="1" dirty="0">
              <a:solidFill>
                <a:prstClr val="black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defTabSz="1219200" eaLnBrk="1">
              <a:lnSpc>
                <a:spcPct val="250000"/>
              </a:lnSpc>
            </a:pPr>
            <a:r>
              <a:rPr lang="zh-CN" altLang="en-US" sz="2135" b="1" dirty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5. 团队完成任务的心得体会</a:t>
            </a:r>
            <a:endParaRPr lang="zh-CN" altLang="en-US" sz="2135" b="1" dirty="0">
              <a:solidFill>
                <a:prstClr val="black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200000"/>
              </a:lnSpc>
            </a:pPr>
            <a:r>
              <a:rPr lang="en-US" altLang="zh-CN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项目任务概述</a:t>
            </a:r>
            <a:endParaRPr kumimoji="1" lang="zh-CN" altLang="en-US" sz="4400" b="1" dirty="0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项目任务概述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425467" y="971924"/>
            <a:ext cx="11411585" cy="2693670"/>
          </a:xfrm>
          <a:prstGeom prst="roundRect">
            <a:avLst>
              <a:gd name="adj" fmla="val 256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57044" y="1026395"/>
            <a:ext cx="539623" cy="6289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472027" y="1026395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defRPr/>
            </a:pP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思源宋体 CN Heavy"/>
                <a:ea typeface="+mj-ea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13396" y="1312273"/>
            <a:ext cx="11223625" cy="2012950"/>
          </a:xfrm>
          <a:prstGeom prst="rect">
            <a:avLst/>
          </a:prstGeom>
        </p:spPr>
        <p:txBody>
          <a:bodyPr wrap="square">
            <a:noAutofit/>
          </a:bodyPr>
          <a:p>
            <a:pPr lvl="0" indent="457200" eaLnBrk="1">
              <a:lnSpc>
                <a:spcPct val="150000"/>
              </a:lnSpc>
              <a:defRPr/>
            </a:pP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Git 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客户端的路径混淆到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WebLogic 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JNDI 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注入，高危漏洞可直接导致服务器被控、数据泄露等灾难性后果。（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CVE-2024-32002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CVE-2024-51479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CVE-2023-7130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CVE-2023-7107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CVE-2024-20931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CVE-2025-30208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0" lang="zh-CN" altLang="en-US" sz="2000" b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457200" eaLnBrk="1">
              <a:lnSpc>
                <a:spcPct val="150000"/>
              </a:lnSpc>
              <a:defRPr/>
            </a:pP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本次实训聚焦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个典型高危漏洞，覆盖版本控制工具、前端框架、中间件等多类组件，通过漏洞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复现，揭示漏洞原理与攻击链路，为防御体系构建提供实践依据。</a:t>
            </a:r>
            <a:endParaRPr kumimoji="0" lang="zh-CN" altLang="en-US" sz="2000" b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9" name="图形 88" descr="拇指朝上符号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075" y="1071551"/>
            <a:ext cx="538612" cy="538612"/>
          </a:xfrm>
          <a:prstGeom prst="rect">
            <a:avLst/>
          </a:prstGeom>
        </p:spPr>
      </p:pic>
      <p:sp>
        <p:nvSpPr>
          <p:cNvPr id="10" name="矩形: 圆角 81"/>
          <p:cNvSpPr/>
          <p:nvPr/>
        </p:nvSpPr>
        <p:spPr>
          <a:xfrm>
            <a:off x="425450" y="3985260"/>
            <a:ext cx="11433175" cy="2252980"/>
          </a:xfrm>
          <a:prstGeom prst="roundRect">
            <a:avLst>
              <a:gd name="adj" fmla="val 22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45913" y="3964377"/>
            <a:ext cx="57969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defRPr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: 圆角 7"/>
          <p:cNvSpPr/>
          <p:nvPr/>
        </p:nvSpPr>
        <p:spPr>
          <a:xfrm>
            <a:off x="537620" y="3917826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4" name="intelligence_66143"/>
          <p:cNvSpPr>
            <a:spLocks noChangeAspect="1"/>
          </p:cNvSpPr>
          <p:nvPr/>
        </p:nvSpPr>
        <p:spPr bwMode="auto">
          <a:xfrm>
            <a:off x="679035" y="4025505"/>
            <a:ext cx="316656" cy="370844"/>
          </a:xfrm>
          <a:custGeom>
            <a:avLst/>
            <a:gdLst>
              <a:gd name="connsiteX0" fmla="*/ 220247 w 519074"/>
              <a:gd name="connsiteY0" fmla="*/ 135608 h 607902"/>
              <a:gd name="connsiteX1" fmla="*/ 265974 w 519074"/>
              <a:gd name="connsiteY1" fmla="*/ 181264 h 607902"/>
              <a:gd name="connsiteX2" fmla="*/ 220247 w 519074"/>
              <a:gd name="connsiteY2" fmla="*/ 226920 h 607902"/>
              <a:gd name="connsiteX3" fmla="*/ 174521 w 519074"/>
              <a:gd name="connsiteY3" fmla="*/ 181264 h 607902"/>
              <a:gd name="connsiteX4" fmla="*/ 220247 w 519074"/>
              <a:gd name="connsiteY4" fmla="*/ 135608 h 607902"/>
              <a:gd name="connsiteX5" fmla="*/ 212236 w 519074"/>
              <a:gd name="connsiteY5" fmla="*/ 59615 h 607902"/>
              <a:gd name="connsiteX6" fmla="*/ 202277 w 519074"/>
              <a:gd name="connsiteY6" fmla="*/ 66210 h 607902"/>
              <a:gd name="connsiteX7" fmla="*/ 191760 w 519074"/>
              <a:gd name="connsiteY7" fmla="*/ 91321 h 607902"/>
              <a:gd name="connsiteX8" fmla="*/ 185714 w 519074"/>
              <a:gd name="connsiteY8" fmla="*/ 97206 h 607902"/>
              <a:gd name="connsiteX9" fmla="*/ 185054 w 519074"/>
              <a:gd name="connsiteY9" fmla="*/ 97459 h 607902"/>
              <a:gd name="connsiteX10" fmla="*/ 176924 w 519074"/>
              <a:gd name="connsiteY10" fmla="*/ 97459 h 607902"/>
              <a:gd name="connsiteX11" fmla="*/ 151521 w 519074"/>
              <a:gd name="connsiteY11" fmla="*/ 87263 h 607902"/>
              <a:gd name="connsiteX12" fmla="*/ 139886 w 519074"/>
              <a:gd name="connsiteY12" fmla="*/ 89647 h 607902"/>
              <a:gd name="connsiteX13" fmla="*/ 128403 w 519074"/>
              <a:gd name="connsiteY13" fmla="*/ 101061 h 607902"/>
              <a:gd name="connsiteX14" fmla="*/ 126066 w 519074"/>
              <a:gd name="connsiteY14" fmla="*/ 112780 h 607902"/>
              <a:gd name="connsiteX15" fmla="*/ 136329 w 519074"/>
              <a:gd name="connsiteY15" fmla="*/ 137739 h 607902"/>
              <a:gd name="connsiteX16" fmla="*/ 136329 w 519074"/>
              <a:gd name="connsiteY16" fmla="*/ 145906 h 607902"/>
              <a:gd name="connsiteX17" fmla="*/ 136024 w 519074"/>
              <a:gd name="connsiteY17" fmla="*/ 146870 h 607902"/>
              <a:gd name="connsiteX18" fmla="*/ 130181 w 519074"/>
              <a:gd name="connsiteY18" fmla="*/ 152806 h 607902"/>
              <a:gd name="connsiteX19" fmla="*/ 105133 w 519074"/>
              <a:gd name="connsiteY19" fmla="*/ 163510 h 607902"/>
              <a:gd name="connsiteX20" fmla="*/ 98528 w 519074"/>
              <a:gd name="connsiteY20" fmla="*/ 173351 h 607902"/>
              <a:gd name="connsiteX21" fmla="*/ 98528 w 519074"/>
              <a:gd name="connsiteY21" fmla="*/ 173402 h 607902"/>
              <a:gd name="connsiteX22" fmla="*/ 98630 w 519074"/>
              <a:gd name="connsiteY22" fmla="*/ 173402 h 607902"/>
              <a:gd name="connsiteX23" fmla="*/ 98630 w 519074"/>
              <a:gd name="connsiteY23" fmla="*/ 189534 h 607902"/>
              <a:gd name="connsiteX24" fmla="*/ 105235 w 519074"/>
              <a:gd name="connsiteY24" fmla="*/ 199477 h 607902"/>
              <a:gd name="connsiteX25" fmla="*/ 130181 w 519074"/>
              <a:gd name="connsiteY25" fmla="*/ 209826 h 607902"/>
              <a:gd name="connsiteX26" fmla="*/ 136075 w 519074"/>
              <a:gd name="connsiteY26" fmla="*/ 215812 h 607902"/>
              <a:gd name="connsiteX27" fmla="*/ 136482 w 519074"/>
              <a:gd name="connsiteY27" fmla="*/ 216725 h 607902"/>
              <a:gd name="connsiteX28" fmla="*/ 136532 w 519074"/>
              <a:gd name="connsiteY28" fmla="*/ 224943 h 607902"/>
              <a:gd name="connsiteX29" fmla="*/ 126371 w 519074"/>
              <a:gd name="connsiteY29" fmla="*/ 250156 h 607902"/>
              <a:gd name="connsiteX30" fmla="*/ 128759 w 519074"/>
              <a:gd name="connsiteY30" fmla="*/ 261773 h 607902"/>
              <a:gd name="connsiteX31" fmla="*/ 140191 w 519074"/>
              <a:gd name="connsiteY31" fmla="*/ 273238 h 607902"/>
              <a:gd name="connsiteX32" fmla="*/ 151927 w 519074"/>
              <a:gd name="connsiteY32" fmla="*/ 275572 h 607902"/>
              <a:gd name="connsiteX33" fmla="*/ 177077 w 519074"/>
              <a:gd name="connsiteY33" fmla="*/ 265223 h 607902"/>
              <a:gd name="connsiteX34" fmla="*/ 185206 w 519074"/>
              <a:gd name="connsiteY34" fmla="*/ 265223 h 607902"/>
              <a:gd name="connsiteX35" fmla="*/ 185867 w 519074"/>
              <a:gd name="connsiteY35" fmla="*/ 265476 h 607902"/>
              <a:gd name="connsiteX36" fmla="*/ 191964 w 519074"/>
              <a:gd name="connsiteY36" fmla="*/ 271310 h 607902"/>
              <a:gd name="connsiteX37" fmla="*/ 202735 w 519074"/>
              <a:gd name="connsiteY37" fmla="*/ 296472 h 607902"/>
              <a:gd name="connsiteX38" fmla="*/ 212642 w 519074"/>
              <a:gd name="connsiteY38" fmla="*/ 303016 h 607902"/>
              <a:gd name="connsiteX39" fmla="*/ 228799 w 519074"/>
              <a:gd name="connsiteY39" fmla="*/ 303016 h 607902"/>
              <a:gd name="connsiteX40" fmla="*/ 238757 w 519074"/>
              <a:gd name="connsiteY40" fmla="*/ 296421 h 607902"/>
              <a:gd name="connsiteX41" fmla="*/ 249224 w 519074"/>
              <a:gd name="connsiteY41" fmla="*/ 271057 h 607902"/>
              <a:gd name="connsiteX42" fmla="*/ 255117 w 519074"/>
              <a:gd name="connsiteY42" fmla="*/ 265223 h 607902"/>
              <a:gd name="connsiteX43" fmla="*/ 255575 w 519074"/>
              <a:gd name="connsiteY43" fmla="*/ 265020 h 607902"/>
              <a:gd name="connsiteX44" fmla="*/ 263704 w 519074"/>
              <a:gd name="connsiteY44" fmla="*/ 264969 h 607902"/>
              <a:gd name="connsiteX45" fmla="*/ 289463 w 519074"/>
              <a:gd name="connsiteY45" fmla="*/ 275216 h 607902"/>
              <a:gd name="connsiteX46" fmla="*/ 301098 w 519074"/>
              <a:gd name="connsiteY46" fmla="*/ 272883 h 607902"/>
              <a:gd name="connsiteX47" fmla="*/ 312530 w 519074"/>
              <a:gd name="connsiteY47" fmla="*/ 261418 h 607902"/>
              <a:gd name="connsiteX48" fmla="*/ 314918 w 519074"/>
              <a:gd name="connsiteY48" fmla="*/ 249750 h 607902"/>
              <a:gd name="connsiteX49" fmla="*/ 304350 w 519074"/>
              <a:gd name="connsiteY49" fmla="*/ 224284 h 607902"/>
              <a:gd name="connsiteX50" fmla="*/ 304299 w 519074"/>
              <a:gd name="connsiteY50" fmla="*/ 216268 h 607902"/>
              <a:gd name="connsiteX51" fmla="*/ 304401 w 519074"/>
              <a:gd name="connsiteY51" fmla="*/ 215913 h 607902"/>
              <a:gd name="connsiteX52" fmla="*/ 310244 w 519074"/>
              <a:gd name="connsiteY52" fmla="*/ 209978 h 607902"/>
              <a:gd name="connsiteX53" fmla="*/ 335851 w 519074"/>
              <a:gd name="connsiteY53" fmla="*/ 199071 h 607902"/>
              <a:gd name="connsiteX54" fmla="*/ 342405 w 519074"/>
              <a:gd name="connsiteY54" fmla="*/ 189179 h 607902"/>
              <a:gd name="connsiteX55" fmla="*/ 342405 w 519074"/>
              <a:gd name="connsiteY55" fmla="*/ 173047 h 607902"/>
              <a:gd name="connsiteX56" fmla="*/ 335800 w 519074"/>
              <a:gd name="connsiteY56" fmla="*/ 163104 h 607902"/>
              <a:gd name="connsiteX57" fmla="*/ 310295 w 519074"/>
              <a:gd name="connsiteY57" fmla="*/ 152450 h 607902"/>
              <a:gd name="connsiteX58" fmla="*/ 304401 w 519074"/>
              <a:gd name="connsiteY58" fmla="*/ 146464 h 607902"/>
              <a:gd name="connsiteX59" fmla="*/ 304350 w 519074"/>
              <a:gd name="connsiteY59" fmla="*/ 146261 h 607902"/>
              <a:gd name="connsiteX60" fmla="*/ 304248 w 519074"/>
              <a:gd name="connsiteY60" fmla="*/ 138145 h 607902"/>
              <a:gd name="connsiteX61" fmla="*/ 314562 w 519074"/>
              <a:gd name="connsiteY61" fmla="*/ 112425 h 607902"/>
              <a:gd name="connsiteX62" fmla="*/ 312174 w 519074"/>
              <a:gd name="connsiteY62" fmla="*/ 100808 h 607902"/>
              <a:gd name="connsiteX63" fmla="*/ 300743 w 519074"/>
              <a:gd name="connsiteY63" fmla="*/ 89343 h 607902"/>
              <a:gd name="connsiteX64" fmla="*/ 289006 w 519074"/>
              <a:gd name="connsiteY64" fmla="*/ 87009 h 607902"/>
              <a:gd name="connsiteX65" fmla="*/ 263704 w 519074"/>
              <a:gd name="connsiteY65" fmla="*/ 97409 h 607902"/>
              <a:gd name="connsiteX66" fmla="*/ 255422 w 519074"/>
              <a:gd name="connsiteY66" fmla="*/ 97409 h 607902"/>
              <a:gd name="connsiteX67" fmla="*/ 255016 w 519074"/>
              <a:gd name="connsiteY67" fmla="*/ 97257 h 607902"/>
              <a:gd name="connsiteX68" fmla="*/ 249122 w 519074"/>
              <a:gd name="connsiteY68" fmla="*/ 91524 h 607902"/>
              <a:gd name="connsiteX69" fmla="*/ 238300 w 519074"/>
              <a:gd name="connsiteY69" fmla="*/ 66159 h 607902"/>
              <a:gd name="connsiteX70" fmla="*/ 228393 w 519074"/>
              <a:gd name="connsiteY70" fmla="*/ 59615 h 607902"/>
              <a:gd name="connsiteX71" fmla="*/ 227935 w 519074"/>
              <a:gd name="connsiteY71" fmla="*/ 8 h 607902"/>
              <a:gd name="connsiteX72" fmla="*/ 459669 w 519074"/>
              <a:gd name="connsiteY72" fmla="*/ 229458 h 607902"/>
              <a:gd name="connsiteX73" fmla="*/ 474099 w 519074"/>
              <a:gd name="connsiteY73" fmla="*/ 287341 h 607902"/>
              <a:gd name="connsiteX74" fmla="*/ 516625 w 519074"/>
              <a:gd name="connsiteY74" fmla="*/ 367443 h 607902"/>
              <a:gd name="connsiteX75" fmla="*/ 498689 w 519074"/>
              <a:gd name="connsiteY75" fmla="*/ 397779 h 607902"/>
              <a:gd name="connsiteX76" fmla="*/ 459720 w 519074"/>
              <a:gd name="connsiteY76" fmla="*/ 398540 h 607902"/>
              <a:gd name="connsiteX77" fmla="*/ 459720 w 519074"/>
              <a:gd name="connsiteY77" fmla="*/ 483107 h 607902"/>
              <a:gd name="connsiteX78" fmla="*/ 411402 w 519074"/>
              <a:gd name="connsiteY78" fmla="*/ 531402 h 607902"/>
              <a:gd name="connsiteX79" fmla="*/ 344844 w 519074"/>
              <a:gd name="connsiteY79" fmla="*/ 531402 h 607902"/>
              <a:gd name="connsiteX80" fmla="*/ 344844 w 519074"/>
              <a:gd name="connsiteY80" fmla="*/ 590958 h 607902"/>
              <a:gd name="connsiteX81" fmla="*/ 327925 w 519074"/>
              <a:gd name="connsiteY81" fmla="*/ 607902 h 607902"/>
              <a:gd name="connsiteX82" fmla="*/ 89688 w 519074"/>
              <a:gd name="connsiteY82" fmla="*/ 607902 h 607902"/>
              <a:gd name="connsiteX83" fmla="*/ 72718 w 519074"/>
              <a:gd name="connsiteY83" fmla="*/ 590958 h 607902"/>
              <a:gd name="connsiteX84" fmla="*/ 72718 w 519074"/>
              <a:gd name="connsiteY84" fmla="*/ 529829 h 607902"/>
              <a:gd name="connsiteX85" fmla="*/ 25111 w 519074"/>
              <a:gd name="connsiteY85" fmla="*/ 333657 h 607902"/>
              <a:gd name="connsiteX86" fmla="*/ 12 w 519074"/>
              <a:gd name="connsiteY86" fmla="*/ 231792 h 607902"/>
              <a:gd name="connsiteX87" fmla="*/ 227935 w 519074"/>
              <a:gd name="connsiteY87" fmla="*/ 8 h 60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19074" h="607902">
                <a:moveTo>
                  <a:pt x="220247" y="135608"/>
                </a:moveTo>
                <a:cubicBezTo>
                  <a:pt x="245549" y="135608"/>
                  <a:pt x="265974" y="156052"/>
                  <a:pt x="265974" y="181264"/>
                </a:cubicBezTo>
                <a:cubicBezTo>
                  <a:pt x="265974" y="206527"/>
                  <a:pt x="245499" y="226920"/>
                  <a:pt x="220247" y="226920"/>
                </a:cubicBezTo>
                <a:cubicBezTo>
                  <a:pt x="194996" y="226920"/>
                  <a:pt x="174521" y="206426"/>
                  <a:pt x="174521" y="181264"/>
                </a:cubicBezTo>
                <a:cubicBezTo>
                  <a:pt x="174521" y="156052"/>
                  <a:pt x="194996" y="135608"/>
                  <a:pt x="220247" y="135608"/>
                </a:cubicBezTo>
                <a:close/>
                <a:moveTo>
                  <a:pt x="212236" y="59615"/>
                </a:moveTo>
                <a:cubicBezTo>
                  <a:pt x="207866" y="59615"/>
                  <a:pt x="203954" y="62253"/>
                  <a:pt x="202277" y="66210"/>
                </a:cubicBezTo>
                <a:lnTo>
                  <a:pt x="191760" y="91321"/>
                </a:lnTo>
                <a:cubicBezTo>
                  <a:pt x="190592" y="94010"/>
                  <a:pt x="188458" y="96140"/>
                  <a:pt x="185714" y="97206"/>
                </a:cubicBezTo>
                <a:cubicBezTo>
                  <a:pt x="185511" y="97257"/>
                  <a:pt x="185257" y="97409"/>
                  <a:pt x="185054" y="97459"/>
                </a:cubicBezTo>
                <a:cubicBezTo>
                  <a:pt x="182412" y="98474"/>
                  <a:pt x="179516" y="98474"/>
                  <a:pt x="176924" y="97459"/>
                </a:cubicBezTo>
                <a:lnTo>
                  <a:pt x="151521" y="87263"/>
                </a:lnTo>
                <a:cubicBezTo>
                  <a:pt x="147507" y="85639"/>
                  <a:pt x="142934" y="86603"/>
                  <a:pt x="139886" y="89647"/>
                </a:cubicBezTo>
                <a:lnTo>
                  <a:pt x="128403" y="101061"/>
                </a:lnTo>
                <a:cubicBezTo>
                  <a:pt x="125304" y="104105"/>
                  <a:pt x="124440" y="108772"/>
                  <a:pt x="126066" y="112780"/>
                </a:cubicBezTo>
                <a:lnTo>
                  <a:pt x="136329" y="137739"/>
                </a:lnTo>
                <a:cubicBezTo>
                  <a:pt x="137447" y="140377"/>
                  <a:pt x="137447" y="143268"/>
                  <a:pt x="136329" y="145906"/>
                </a:cubicBezTo>
                <a:cubicBezTo>
                  <a:pt x="136278" y="146261"/>
                  <a:pt x="136126" y="146515"/>
                  <a:pt x="136024" y="146870"/>
                </a:cubicBezTo>
                <a:cubicBezTo>
                  <a:pt x="134907" y="149508"/>
                  <a:pt x="132823" y="151639"/>
                  <a:pt x="130181" y="152806"/>
                </a:cubicBezTo>
                <a:lnTo>
                  <a:pt x="105133" y="163510"/>
                </a:lnTo>
                <a:cubicBezTo>
                  <a:pt x="101119" y="165184"/>
                  <a:pt x="98528" y="169039"/>
                  <a:pt x="98528" y="173351"/>
                </a:cubicBezTo>
                <a:lnTo>
                  <a:pt x="98528" y="173402"/>
                </a:lnTo>
                <a:lnTo>
                  <a:pt x="98630" y="173402"/>
                </a:lnTo>
                <a:lnTo>
                  <a:pt x="98630" y="189534"/>
                </a:lnTo>
                <a:cubicBezTo>
                  <a:pt x="98630" y="193897"/>
                  <a:pt x="101272" y="197803"/>
                  <a:pt x="105235" y="199477"/>
                </a:cubicBezTo>
                <a:lnTo>
                  <a:pt x="130181" y="209826"/>
                </a:lnTo>
                <a:cubicBezTo>
                  <a:pt x="132874" y="210942"/>
                  <a:pt x="135008" y="213073"/>
                  <a:pt x="136075" y="215812"/>
                </a:cubicBezTo>
                <a:cubicBezTo>
                  <a:pt x="136228" y="216116"/>
                  <a:pt x="136329" y="216421"/>
                  <a:pt x="136482" y="216725"/>
                </a:cubicBezTo>
                <a:cubicBezTo>
                  <a:pt x="137549" y="219363"/>
                  <a:pt x="137650" y="222305"/>
                  <a:pt x="136532" y="224943"/>
                </a:cubicBezTo>
                <a:lnTo>
                  <a:pt x="126371" y="250156"/>
                </a:lnTo>
                <a:cubicBezTo>
                  <a:pt x="124745" y="254164"/>
                  <a:pt x="125710" y="258729"/>
                  <a:pt x="128759" y="261773"/>
                </a:cubicBezTo>
                <a:lnTo>
                  <a:pt x="140191" y="273238"/>
                </a:lnTo>
                <a:cubicBezTo>
                  <a:pt x="143239" y="276332"/>
                  <a:pt x="147913" y="277195"/>
                  <a:pt x="151927" y="275572"/>
                </a:cubicBezTo>
                <a:lnTo>
                  <a:pt x="177077" y="265223"/>
                </a:lnTo>
                <a:cubicBezTo>
                  <a:pt x="179617" y="264208"/>
                  <a:pt x="182564" y="264208"/>
                  <a:pt x="185206" y="265223"/>
                </a:cubicBezTo>
                <a:cubicBezTo>
                  <a:pt x="185409" y="265273"/>
                  <a:pt x="185663" y="265426"/>
                  <a:pt x="185867" y="265476"/>
                </a:cubicBezTo>
                <a:cubicBezTo>
                  <a:pt x="188559" y="266491"/>
                  <a:pt x="190795" y="268622"/>
                  <a:pt x="191964" y="271310"/>
                </a:cubicBezTo>
                <a:lnTo>
                  <a:pt x="202735" y="296472"/>
                </a:lnTo>
                <a:cubicBezTo>
                  <a:pt x="204411" y="300480"/>
                  <a:pt x="208273" y="303016"/>
                  <a:pt x="212642" y="303016"/>
                </a:cubicBezTo>
                <a:lnTo>
                  <a:pt x="228799" y="303016"/>
                </a:lnTo>
                <a:cubicBezTo>
                  <a:pt x="233169" y="303016"/>
                  <a:pt x="237081" y="300378"/>
                  <a:pt x="238757" y="296421"/>
                </a:cubicBezTo>
                <a:lnTo>
                  <a:pt x="249224" y="271057"/>
                </a:lnTo>
                <a:cubicBezTo>
                  <a:pt x="250342" y="268419"/>
                  <a:pt x="252475" y="266288"/>
                  <a:pt x="255117" y="265223"/>
                </a:cubicBezTo>
                <a:cubicBezTo>
                  <a:pt x="255219" y="265172"/>
                  <a:pt x="255422" y="265070"/>
                  <a:pt x="255575" y="265020"/>
                </a:cubicBezTo>
                <a:cubicBezTo>
                  <a:pt x="258217" y="263954"/>
                  <a:pt x="261113" y="263954"/>
                  <a:pt x="263704" y="264969"/>
                </a:cubicBezTo>
                <a:lnTo>
                  <a:pt x="289463" y="275216"/>
                </a:lnTo>
                <a:cubicBezTo>
                  <a:pt x="293426" y="276840"/>
                  <a:pt x="298050" y="275927"/>
                  <a:pt x="301098" y="272883"/>
                </a:cubicBezTo>
                <a:lnTo>
                  <a:pt x="312530" y="261418"/>
                </a:lnTo>
                <a:cubicBezTo>
                  <a:pt x="315680" y="258374"/>
                  <a:pt x="316595" y="253707"/>
                  <a:pt x="314918" y="249750"/>
                </a:cubicBezTo>
                <a:lnTo>
                  <a:pt x="304350" y="224284"/>
                </a:lnTo>
                <a:cubicBezTo>
                  <a:pt x="303283" y="221747"/>
                  <a:pt x="303283" y="218805"/>
                  <a:pt x="304299" y="216268"/>
                </a:cubicBezTo>
                <a:lnTo>
                  <a:pt x="304401" y="215913"/>
                </a:lnTo>
                <a:cubicBezTo>
                  <a:pt x="305519" y="213225"/>
                  <a:pt x="307602" y="211094"/>
                  <a:pt x="310244" y="209978"/>
                </a:cubicBezTo>
                <a:lnTo>
                  <a:pt x="335851" y="199071"/>
                </a:lnTo>
                <a:cubicBezTo>
                  <a:pt x="339865" y="197397"/>
                  <a:pt x="342405" y="193542"/>
                  <a:pt x="342405" y="189179"/>
                </a:cubicBezTo>
                <a:lnTo>
                  <a:pt x="342405" y="173047"/>
                </a:lnTo>
                <a:cubicBezTo>
                  <a:pt x="342405" y="168684"/>
                  <a:pt x="339763" y="164778"/>
                  <a:pt x="335800" y="163104"/>
                </a:cubicBezTo>
                <a:lnTo>
                  <a:pt x="310295" y="152450"/>
                </a:lnTo>
                <a:cubicBezTo>
                  <a:pt x="307602" y="151334"/>
                  <a:pt x="305519" y="149153"/>
                  <a:pt x="304401" y="146464"/>
                </a:cubicBezTo>
                <a:cubicBezTo>
                  <a:pt x="304401" y="146363"/>
                  <a:pt x="304350" y="146312"/>
                  <a:pt x="304350" y="146261"/>
                </a:cubicBezTo>
                <a:cubicBezTo>
                  <a:pt x="303232" y="143674"/>
                  <a:pt x="303232" y="140783"/>
                  <a:pt x="304248" y="138145"/>
                </a:cubicBezTo>
                <a:lnTo>
                  <a:pt x="314562" y="112425"/>
                </a:lnTo>
                <a:cubicBezTo>
                  <a:pt x="316188" y="108417"/>
                  <a:pt x="315223" y="103851"/>
                  <a:pt x="312174" y="100808"/>
                </a:cubicBezTo>
                <a:lnTo>
                  <a:pt x="300743" y="89343"/>
                </a:lnTo>
                <a:cubicBezTo>
                  <a:pt x="297694" y="86248"/>
                  <a:pt x="293020" y="85386"/>
                  <a:pt x="289006" y="87009"/>
                </a:cubicBezTo>
                <a:lnTo>
                  <a:pt x="263704" y="97409"/>
                </a:lnTo>
                <a:cubicBezTo>
                  <a:pt x="261062" y="98575"/>
                  <a:pt x="258064" y="98474"/>
                  <a:pt x="255422" y="97409"/>
                </a:cubicBezTo>
                <a:cubicBezTo>
                  <a:pt x="255270" y="97409"/>
                  <a:pt x="255168" y="97358"/>
                  <a:pt x="255016" y="97257"/>
                </a:cubicBezTo>
                <a:cubicBezTo>
                  <a:pt x="252374" y="96191"/>
                  <a:pt x="250291" y="94162"/>
                  <a:pt x="249122" y="91524"/>
                </a:cubicBezTo>
                <a:lnTo>
                  <a:pt x="238300" y="66159"/>
                </a:lnTo>
                <a:cubicBezTo>
                  <a:pt x="236623" y="62152"/>
                  <a:pt x="232711" y="59615"/>
                  <a:pt x="228393" y="59615"/>
                </a:cubicBezTo>
                <a:close/>
                <a:moveTo>
                  <a:pt x="227935" y="8"/>
                </a:moveTo>
                <a:cubicBezTo>
                  <a:pt x="355767" y="-1007"/>
                  <a:pt x="459669" y="102076"/>
                  <a:pt x="459669" y="229458"/>
                </a:cubicBezTo>
                <a:cubicBezTo>
                  <a:pt x="459669" y="249598"/>
                  <a:pt x="464597" y="269484"/>
                  <a:pt x="474099" y="287341"/>
                </a:cubicBezTo>
                <a:lnTo>
                  <a:pt x="516625" y="367443"/>
                </a:lnTo>
                <a:cubicBezTo>
                  <a:pt x="523890" y="381039"/>
                  <a:pt x="514135" y="397526"/>
                  <a:pt x="498689" y="397779"/>
                </a:cubicBezTo>
                <a:lnTo>
                  <a:pt x="459720" y="398540"/>
                </a:lnTo>
                <a:lnTo>
                  <a:pt x="459720" y="483107"/>
                </a:lnTo>
                <a:cubicBezTo>
                  <a:pt x="459720" y="509689"/>
                  <a:pt x="438025" y="531402"/>
                  <a:pt x="411402" y="531402"/>
                </a:cubicBezTo>
                <a:lnTo>
                  <a:pt x="344844" y="531402"/>
                </a:lnTo>
                <a:lnTo>
                  <a:pt x="344844" y="590958"/>
                </a:lnTo>
                <a:cubicBezTo>
                  <a:pt x="344844" y="600293"/>
                  <a:pt x="337273" y="607902"/>
                  <a:pt x="327925" y="607902"/>
                </a:cubicBezTo>
                <a:lnTo>
                  <a:pt x="89688" y="607902"/>
                </a:lnTo>
                <a:cubicBezTo>
                  <a:pt x="80339" y="607902"/>
                  <a:pt x="72718" y="600293"/>
                  <a:pt x="72718" y="590958"/>
                </a:cubicBezTo>
                <a:lnTo>
                  <a:pt x="72718" y="529829"/>
                </a:lnTo>
                <a:cubicBezTo>
                  <a:pt x="72718" y="461648"/>
                  <a:pt x="56358" y="394482"/>
                  <a:pt x="25111" y="333657"/>
                </a:cubicBezTo>
                <a:cubicBezTo>
                  <a:pt x="9462" y="303118"/>
                  <a:pt x="419" y="268469"/>
                  <a:pt x="12" y="231792"/>
                </a:cubicBezTo>
                <a:cubicBezTo>
                  <a:pt x="-1258" y="104562"/>
                  <a:pt x="100510" y="1022"/>
                  <a:pt x="227935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文本框 16"/>
          <p:cNvSpPr txBox="1"/>
          <p:nvPr/>
        </p:nvSpPr>
        <p:spPr>
          <a:xfrm>
            <a:off x="679450" y="4652010"/>
            <a:ext cx="11158220" cy="16065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R="0" indent="45720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本次实验围绕网络安全高危漏洞展开，目标为系统性复现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个典型漏洞，通过搭建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Docker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隔离环境，掌握漏洞利用工具的深度使用，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完成复现流程文档。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验证漏洞攻击路径与危害边界，提升团队攻防实战能力。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200000"/>
              </a:lnSpc>
            </a:pPr>
            <a:r>
              <a:rPr lang="zh-CN" altLang="en-US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项目小组分工及安排</a:t>
            </a:r>
            <a:endParaRPr lang="zh-CN" altLang="en-US" sz="4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项目小组分工及安排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035" y="981710"/>
            <a:ext cx="3199130" cy="558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小组分工：</a:t>
            </a:r>
            <a:endParaRPr lang="zh-CN" altLang="en-US" sz="3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7035" y="1718310"/>
          <a:ext cx="11205210" cy="45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520"/>
                <a:gridCol w="2754630"/>
                <a:gridCol w="7084060"/>
              </a:tblGrid>
              <a:tr h="747395">
                <a:tc>
                  <a:txBody>
                    <a:bodyPr/>
                    <a:p>
                      <a:pPr algn="l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组员</a:t>
                      </a:r>
                      <a:endParaRPr lang="zh-CN" altLang="en-US" sz="3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3200" dirty="0"/>
                        <a:t>负责</a:t>
                      </a:r>
                      <a:r>
                        <a:rPr lang="zh-CN" altLang="en-US" sz="3200" dirty="0"/>
                        <a:t>漏洞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3200" dirty="0"/>
                        <a:t>分工</a:t>
                      </a:r>
                      <a:endParaRPr lang="zh-CN" altLang="en-US" sz="3200" dirty="0"/>
                    </a:p>
                  </a:txBody>
                  <a:tcPr/>
                </a:tc>
              </a:tr>
              <a:tr h="747395"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宋昊谦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CVE-2024-32002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CVE-2024-51479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复现漏洞，深入剖析原理、利用链路，调试触发条件，输出复现流程与分析</a:t>
                      </a:r>
                      <a:endParaRPr lang="zh-CN" altLang="en-US" sz="20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747395"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朱子昂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CVE-2023-7130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搭建漏洞环境，用渗透工具测试，分析成因、攻击路径，整理复现关键步骤</a:t>
                      </a:r>
                      <a:endParaRPr lang="zh-CN" altLang="en-US" sz="20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747395"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马</a:t>
                      </a:r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淏怡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CVE-2023-7107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部署电商系统靶场，借</a:t>
                      </a:r>
                      <a:r>
                        <a:rPr lang="en-US" altLang="zh-CN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sqlmap </a:t>
                      </a: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挖掘注入点，剖析数据泄露危害，输出验证报告</a:t>
                      </a:r>
                      <a:endParaRPr lang="zh-CN" altLang="en-US" sz="20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747395"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郭佳成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CVE-2024-20931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配置</a:t>
                      </a:r>
                      <a:r>
                        <a:rPr lang="en-US" altLang="zh-CN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WebLogic </a:t>
                      </a: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环境，构造</a:t>
                      </a:r>
                      <a:r>
                        <a:rPr lang="en-US" altLang="zh-CN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JNDI </a:t>
                      </a: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注入</a:t>
                      </a:r>
                      <a:r>
                        <a:rPr lang="en-US" altLang="zh-CN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payload</a:t>
                      </a: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，测试执行与绕过，总结防护要点</a:t>
                      </a:r>
                      <a:endParaRPr lang="zh-CN" altLang="en-US" sz="20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747395"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何叶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CVE-2025-30208</a:t>
                      </a:r>
                      <a:endParaRPr lang="en-US" altLang="zh-CN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构建</a:t>
                      </a:r>
                      <a:r>
                        <a:rPr lang="en-US" altLang="zh-CN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Vite </a:t>
                      </a:r>
                      <a:r>
                        <a:rPr lang="zh-CN" altLang="en-US" sz="20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项目环境，构造恶意请求，验证文件读取漏洞，分析绕过逻辑与影响</a:t>
                      </a:r>
                      <a:endParaRPr lang="zh-CN" altLang="en-US" sz="20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665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项目小组分工及安排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035" y="981710"/>
            <a:ext cx="3199130" cy="5588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项目安排：</a:t>
            </a:r>
            <a:endParaRPr lang="zh-CN" altLang="en-US" sz="3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72870" y="1687830"/>
          <a:ext cx="9303385" cy="4631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/>
                <a:gridCol w="8093710"/>
              </a:tblGrid>
              <a:tr h="727075">
                <a:tc>
                  <a:txBody>
                    <a:bodyPr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阶段</a:t>
                      </a:r>
                      <a:endParaRPr lang="zh-CN" altLang="en-US" sz="3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3200" dirty="0"/>
                        <a:t>工作</a:t>
                      </a:r>
                      <a:r>
                        <a:rPr lang="zh-CN" altLang="en-US" sz="3200" dirty="0"/>
                        <a:t>内容</a:t>
                      </a:r>
                      <a:endParaRPr lang="zh-CN" altLang="en-US" sz="32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813435">
                <a:tc>
                  <a:txBody>
                    <a:bodyPr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</a:t>
                      </a:r>
                      <a:endParaRPr lang="en-US" altLang="zh-CN" sz="2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本地环境搭建（</a:t>
                      </a:r>
                      <a:r>
                        <a:rPr lang="en-US" altLang="zh-CN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docker/docker-compose/dockerfile</a:t>
                      </a:r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）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27710">
                <a:tc>
                  <a:txBody>
                    <a:bodyPr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</a:t>
                      </a:r>
                      <a:endParaRPr lang="en-US" altLang="zh-CN" sz="2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本地漏洞复现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</a:t>
                      </a:r>
                      <a:endParaRPr lang="en-US" altLang="zh-CN" sz="2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漏洞利用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13435">
                <a:tc>
                  <a:txBody>
                    <a:bodyPr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</a:t>
                      </a:r>
                      <a:endParaRPr lang="en-US" altLang="zh-CN" sz="2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漏洞修复方案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7075">
                <a:tc>
                  <a:txBody>
                    <a:bodyPr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</a:t>
                      </a:r>
                      <a:endParaRPr lang="en-US" altLang="zh-CN" sz="2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 kern="1200" dirty="0">
                          <a:solidFill>
                            <a:prstClr val="black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输出报告</a:t>
                      </a:r>
                      <a:endParaRPr lang="zh-CN" altLang="en-US" sz="2400" kern="120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200000"/>
              </a:lnSpc>
            </a:pPr>
            <a:r>
              <a:rPr lang="zh-CN" altLang="en-US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4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7437755" cy="74549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CVE-2024-32002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Git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远程代码执行）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788160"/>
            <a:ext cx="11142980" cy="22231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类别：远程代码执行（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RCE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CVSS 7.5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Git  v2.45.0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及更早版本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触发条件：受害者在大小写不敏感文件系统（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Windows/macOS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）中执行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git clone --recursive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克隆恶意仓库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利用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Windows NTFS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大小写不敏感特性与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Git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内部大小写敏感存储的差异，通过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A +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符号链接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a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（指向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.git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”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的路径混淆，使恶意钩子脚本（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post-checkout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）被写入仓库的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.git/modules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目录并自动执行。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6320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过程：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CVE-2024-32002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Git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远程代码执行）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042268" y="2445261"/>
            <a:ext cx="10388329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8" descr="post_object_image_42534133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3294"/>
            <a:ext cx="12191957" cy="339125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紧急修复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临时规避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安全意识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Git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v2.45.1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及以上版本，官方已修复路径解析逻辑。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禁用符号链接支持：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git config --global core.symlinks false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（可能影响部分仓库功能）。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拒绝克隆来源不明的仓库，对非信任仓库执行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git clone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时避免使用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--recursive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参数。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7437755" cy="74549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CVE-2024-51479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Next.js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权限绕过）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788160"/>
            <a:ext cx="11142980" cy="22231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类别：权限绕过（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Authorization Bypass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CVSS 7.5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Next.js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版本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&gt; 9.5.5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且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&lt; 14.2.4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（本次复现用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v14.2.0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触发条件：应用使用中间件（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middleware.js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）基于路径（如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/admin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）进行鉴权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Next.js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对国际化路由参数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?__nextLocale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的处理优先于中间件路径匹配，导致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/admin?__nextLocale=xxx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请求绕过拦截，直接返回受保护页面内容（含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SSR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渲染的敏感数据）。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4735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lang="zh-CN" altLang="en-US" sz="2400" b="1" kern="1200" noProof="0" dirty="0">
                <a:solidFill>
                  <a:schemeClr val="accent6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CVE-2024-51479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Next.js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权限绕过）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042268" y="2445261"/>
            <a:ext cx="10388329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图片 5" descr="post_object_image_24105702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88" y="2271712"/>
            <a:ext cx="12131868" cy="329022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根本修复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防御强化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参数过滤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Next.js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v14.2.4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及以上版本，修复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__nextLocale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参数处理逻辑。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即使使用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SSR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，也需在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getServerSideProps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中添加独立身份验证（如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Session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校验），不依赖中间件单一拦截。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限制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__nextLocale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允许值（如仅支持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en/zh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等合法语言代码），拒绝恶意输入。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7437755" cy="7454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CVE-2023-7107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（电商系统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2" y="1820713"/>
            <a:ext cx="11142980" cy="22231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SQL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注入（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SQL Injection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Code-Projects “E-Commerce Website 1.0”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存在多个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SQL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注入点，不仅限于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user_signup.php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文件中的参数（如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firstname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middlename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email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等），还包括如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product_details.php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中的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prod_id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参数。攻击者可通过这些注入点访问数据库敏感数据（如用户信息、后台配置、业务数据、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flag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表等），构成严重的数据泄露风险。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应用系统在处理用户提交的参数（如注册表单或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URL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参数）时，未对输入进行有效过滤或使用预编译语句，导致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语句拼接漏洞。攻击者可利用如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prod_id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等参数，通过自动化工具（如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sqlmap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）进行布尔盲注、联合查询注入等方式，探测数据库结构、枚举表名字段并提取敏感数据，最终实现数据泄露甚至控制数据库系统。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6320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lang="zh-CN" altLang="en-US" sz="2400" b="1" kern="1200" noProof="0" dirty="0">
                <a:solidFill>
                  <a:schemeClr val="accent6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CVE-2023-7107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（电商系统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SQL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post_object_image_31871091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7" y="2700337"/>
            <a:ext cx="11531512" cy="248390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核心修复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kern="12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权限控制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对所有用户输入使用参数化查询（预处理语句），避免将用户输入直接拼接进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SQL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语句中，从根本上防止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SQL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注入。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限制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prod_id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等参数为数字类型（如用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is_numeric()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判断），并对字符串输入使用白名单规则，拒绝特殊字符。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数据库账号仅授予必要权限（如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SELECT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），禁止使用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ROOT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账号连接生产数据库。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8462645" cy="66738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CVE-2024-20931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WebLogic JNDI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788160"/>
            <a:ext cx="11142980" cy="22231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JNDI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注入（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Remote Code Execution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CVSS 7.5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Oracle WebLogic Server 12.2.1.3-2018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等版本（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CVE-2023-21839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的绕过漏洞）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sz="20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T3 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协议绑定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ForeignOpaqueReference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对象，其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getReferent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方法会触发恶意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JNDI 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查询，加载远程恶意类，实现远程代码执行（无需认证）。</a:t>
            </a:r>
            <a:endParaRPr lang="zh-CN" altLang="en-US" sz="20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6320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lang="zh-CN" altLang="en-US" sz="2400" b="1" kern="1200" noProof="0" dirty="0">
                <a:solidFill>
                  <a:schemeClr val="accent1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CVE-2024-20931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WebLogic JNDI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post_object_image_25659739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96" y="2578629"/>
            <a:ext cx="11336554" cy="23153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紧急修复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临时规避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长期防御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安装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Oracle 2024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1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月补丁（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PSU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），修复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ForeignOpaqueReference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处理逻辑。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禁用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T3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协议：在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WebLogic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控制台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→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服务器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→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协议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→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一般信息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→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取消勾选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启用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T3”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配置防火墙规则：禁止外部网络访问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WebLogic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7001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端口。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WebLogic 14.1.1.0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及以上版本，增强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JNDI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防护机制。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启用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WebLogic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JNDI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过滤功能，限制可加载的类路径。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7830820" cy="6623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CVE-2025-30208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任意文件读取）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788160"/>
            <a:ext cx="11142980" cy="22231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类别：任意文件读取（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Arbitrary File Read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CVSS 7.5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Vite 6.2.3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之前版本（本次复现用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 v6.2.2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开发服务器对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@fs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前缀路径处理存在逻辑漏洞，攻击者可通过构造特殊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URL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（如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@fs/etc/passwd?raw??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）绕过路径限制，读取任意文件内容。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6320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lang="zh-CN" altLang="en-US" sz="2400" b="1" kern="1200" noProof="0" dirty="0">
                <a:solidFill>
                  <a:schemeClr val="accent6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CVE-2025-30208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Vite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任意文件读取）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post_object_image_5426870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21" y="2604558"/>
            <a:ext cx="11371362" cy="256363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紧急修复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临时规避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长期防御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Vite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6.2.3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及以上版本，修复路径解析与参数处理逻辑。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在生产环境禁用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Vite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开发服务器（改用构建后的静态文件）。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配置反向代理（如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Nginx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），阻止含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@fs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前缀的请求：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 indent="457200" algn="just">
              <a:lnSpc>
                <a:spcPct val="150000"/>
              </a:lnSpc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server.fs.allow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配置项，明确限制可访问的文件目录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07670" y="984885"/>
            <a:ext cx="9535772" cy="5759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CVE-2023-7130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College Notes Gallery SQL 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788160"/>
            <a:ext cx="11142980" cy="2223135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类别：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SQL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注入（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SQL Injection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风险等级：高危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影响范围：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College Notes Gallery 2.0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login.php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（参数：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user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pass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1310" y="4243070"/>
            <a:ext cx="10962640" cy="2042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核心原理：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用户登录参数未经过滤直接拼接至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查询语句，攻击者可注入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' OR '1'='1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等恶意代码篡改查询逻辑，绕过认证或窃取数据库敏感数据（如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flag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表）。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6320" y="1471295"/>
            <a:ext cx="1040003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漏洞复现</a:t>
            </a:r>
            <a:r>
              <a:rPr lang="zh-CN" altLang="en-US" sz="2400" b="1" kern="1200" noProof="0" dirty="0">
                <a:solidFill>
                  <a:schemeClr val="accent6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CVE-2023-7130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College Notes Gallery SQL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post_object_image_21808189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55" y="2826385"/>
            <a:ext cx="10631070" cy="236114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3.项目完成情况的思考与复盘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24255" y="186843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4296275" y="186843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7968295" y="186843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23392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7955595" y="618891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4296274" y="618891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直角三角形 31"/>
          <p:cNvSpPr/>
          <p:nvPr>
            <p:custDataLst>
              <p:tags r:id="rId7"/>
            </p:custDataLst>
          </p:nvPr>
        </p:nvSpPr>
        <p:spPr>
          <a:xfrm flipV="1">
            <a:off x="623393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3" name="直角三角形 32"/>
          <p:cNvSpPr/>
          <p:nvPr>
            <p:custDataLst>
              <p:tags r:id="rId8"/>
            </p:custDataLst>
          </p:nvPr>
        </p:nvSpPr>
        <p:spPr>
          <a:xfrm flipV="1">
            <a:off x="4295412" y="188101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4" name="直角三角形 33"/>
          <p:cNvSpPr/>
          <p:nvPr>
            <p:custDataLst>
              <p:tags r:id="rId9"/>
            </p:custDataLst>
          </p:nvPr>
        </p:nvSpPr>
        <p:spPr>
          <a:xfrm flipV="1">
            <a:off x="7967432" y="188101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1027586" y="2285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输入校验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809466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权限控制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14130" y="219848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错误隐藏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807244" y="3092574"/>
            <a:ext cx="313948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限制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user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参数为字母数字组合，长度不超过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20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字符。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4"/>
            </p:custDataLst>
          </p:nvPr>
        </p:nvCxnSpPr>
        <p:spPr>
          <a:xfrm>
            <a:off x="2203657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5850371" y="296649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9595056" y="296649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4432030" y="3092574"/>
            <a:ext cx="313948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数据库账号仅授予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SELECT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权限，禁止使用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ROOT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账号连接应用。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8136694" y="3092574"/>
            <a:ext cx="313948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关闭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PHP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错误回显（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display_errors=Off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），避免泄露数据库结构。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ebook_274884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4386945" y="196114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45" name="图形 24" descr="握手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5994" y="1893143"/>
            <a:ext cx="450436" cy="450436"/>
          </a:xfrm>
          <a:prstGeom prst="rect">
            <a:avLst/>
          </a:prstGeom>
        </p:spPr>
      </p:pic>
      <p:pic>
        <p:nvPicPr>
          <p:cNvPr id="46" name="图形 25" descr="黑板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561" y="1905082"/>
            <a:ext cx="369392" cy="369392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55065" y="1043940"/>
            <a:ext cx="2536825" cy="6267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修复策略：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200000"/>
              </a:lnSpc>
            </a:pPr>
            <a:r>
              <a:rPr lang="zh-CN" altLang="en-US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4.其他关键事项</a:t>
            </a:r>
            <a:endParaRPr lang="zh-CN" altLang="en-US" sz="4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4.其他关键事项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4045" y="1624965"/>
            <a:ext cx="11094720" cy="46488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1.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跨环境兼容性问题（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CVE-2024-32002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）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问题：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Git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漏洞复现在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Windows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与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Linux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表现差异大（大小写敏感特性），初期克隆时未触发路径混淆。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解决方案：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严格分离环境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——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在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Docker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（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Linux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）中构造仓库，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Windows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中触发，通过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tar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打包保持文件属性，最终成功复现。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2. 工具版本依赖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问题：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JNDI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注入需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JDK 1.8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（高版本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JDK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默认禁用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trustURLCodebase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），初期因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JDK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版本过高导致注入失败。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解决方案：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并行安装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JDK 1.8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，通过环境变量指定编译与运行版本，配合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JNDIKit.jar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生成兼容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payload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3. 容器网络隔离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问题：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WebLogic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容器与主机通信受阻，反弹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shell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无法连接。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R="0" indent="457200" algn="l" defTabSz="914400" rtl="0" eaLnBrk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解决方案：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利用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host.docker.internal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访问主机端口，在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JNDI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命令中指定该地址，成功建立连接。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5055" y="899160"/>
            <a:ext cx="4431030" cy="536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实验难点与解决方案：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252095"/>
            <a:ext cx="1214120" cy="1219835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982663" y="1952625"/>
            <a:ext cx="10226675" cy="1476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200000"/>
              </a:lnSpc>
            </a:pPr>
            <a:r>
              <a:rPr lang="zh-CN" altLang="en-US" sz="4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kumimoji="1" lang="zh-CN" altLang="en-US" sz="4400" b="1" dirty="0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730375" y="979170"/>
            <a:ext cx="3051810" cy="6026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通用修复原则：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  <p:sp>
        <p:nvSpPr>
          <p:cNvPr id="6" name="矩形: 圆角 1"/>
          <p:cNvSpPr/>
          <p:nvPr/>
        </p:nvSpPr>
        <p:spPr>
          <a:xfrm>
            <a:off x="898633" y="2087534"/>
            <a:ext cx="628424" cy="6284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0375" y="1931670"/>
            <a:ext cx="10033635" cy="12687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1.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版本管理：</a:t>
            </a:r>
            <a:endParaRPr lang="zh-CN" altLang="en-US" sz="2400" b="1">
              <a:solidFill>
                <a:schemeClr val="accent2">
                  <a:lumMod val="50000"/>
                </a:schemeClr>
              </a:solidFill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建立组件版本清单，定期扫描高危漏洞（如使用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 OWASP Dependency-Check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），优先升级官方修复版本。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98633" y="3705943"/>
            <a:ext cx="628424" cy="6284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30375" y="3550285"/>
            <a:ext cx="9622155" cy="1253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2.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环境隔离：</a:t>
            </a:r>
            <a:endParaRPr lang="zh-CN" altLang="en-US" sz="2400" b="1">
              <a:solidFill>
                <a:schemeClr val="accent2">
                  <a:lumMod val="50000"/>
                </a:schemeClr>
              </a:solidFill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生产环境与测试环境严格分离，禁用开发工具（如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 Vite Dev Server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）在生产环境的暴露。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98633" y="5324352"/>
            <a:ext cx="628424" cy="6284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11960" y="5024755"/>
            <a:ext cx="9640570" cy="1359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3.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输入校验：</a:t>
            </a:r>
            <a:endParaRPr lang="zh-CN" altLang="en-US" sz="2400" b="1">
              <a:solidFill>
                <a:schemeClr val="accent2">
                  <a:lumMod val="50000"/>
                </a:schemeClr>
              </a:solidFill>
              <a:sym typeface="Calibri" panose="020F0502020204030204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对用户输入实施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 “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白名单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 + 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参数化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” 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双重控制，杜绝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 SQL 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sym typeface="Calibri" panose="020F0502020204030204"/>
              </a:rPr>
              <a:t>注入、命令注入等漏洞。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25" name="writing_122117"/>
          <p:cNvSpPr>
            <a:spLocks noChangeAspect="1"/>
          </p:cNvSpPr>
          <p:nvPr/>
        </p:nvSpPr>
        <p:spPr bwMode="auto">
          <a:xfrm>
            <a:off x="1002387" y="3810017"/>
            <a:ext cx="420916" cy="420276"/>
          </a:xfrm>
          <a:custGeom>
            <a:avLst/>
            <a:gdLst>
              <a:gd name="connsiteX0" fmla="*/ 45797 w 605028"/>
              <a:gd name="connsiteY0" fmla="*/ 445126 h 604110"/>
              <a:gd name="connsiteX1" fmla="*/ 159266 w 605028"/>
              <a:gd name="connsiteY1" fmla="*/ 558313 h 604110"/>
              <a:gd name="connsiteX2" fmla="*/ 0 w 605028"/>
              <a:gd name="connsiteY2" fmla="*/ 604110 h 604110"/>
              <a:gd name="connsiteX3" fmla="*/ 460648 w 605028"/>
              <a:gd name="connsiteY3" fmla="*/ 330740 h 604110"/>
              <a:gd name="connsiteX4" fmla="*/ 504033 w 605028"/>
              <a:gd name="connsiteY4" fmla="*/ 374171 h 604110"/>
              <a:gd name="connsiteX5" fmla="*/ 441749 w 605028"/>
              <a:gd name="connsiteY5" fmla="*/ 436273 h 604110"/>
              <a:gd name="connsiteX6" fmla="*/ 470504 w 605028"/>
              <a:gd name="connsiteY6" fmla="*/ 464990 h 604110"/>
              <a:gd name="connsiteX7" fmla="*/ 532787 w 605028"/>
              <a:gd name="connsiteY7" fmla="*/ 402786 h 604110"/>
              <a:gd name="connsiteX8" fmla="*/ 605028 w 605028"/>
              <a:gd name="connsiteY8" fmla="*/ 474934 h 604110"/>
              <a:gd name="connsiteX9" fmla="*/ 475685 w 605028"/>
              <a:gd name="connsiteY9" fmla="*/ 604110 h 604110"/>
              <a:gd name="connsiteX10" fmla="*/ 331305 w 605028"/>
              <a:gd name="connsiteY10" fmla="*/ 459916 h 604110"/>
              <a:gd name="connsiteX11" fmla="*/ 354026 w 605028"/>
              <a:gd name="connsiteY11" fmla="*/ 121443 h 604110"/>
              <a:gd name="connsiteX12" fmla="*/ 483302 w 605028"/>
              <a:gd name="connsiteY12" fmla="*/ 250578 h 604110"/>
              <a:gd name="connsiteX13" fmla="*/ 195889 w 605028"/>
              <a:gd name="connsiteY13" fmla="*/ 537637 h 604110"/>
              <a:gd name="connsiteX14" fmla="*/ 66543 w 605028"/>
              <a:gd name="connsiteY14" fmla="*/ 408503 h 604110"/>
              <a:gd name="connsiteX15" fmla="*/ 475681 w 605028"/>
              <a:gd name="connsiteY15" fmla="*/ 0 h 604110"/>
              <a:gd name="connsiteX16" fmla="*/ 605028 w 605028"/>
              <a:gd name="connsiteY16" fmla="*/ 129134 h 604110"/>
              <a:gd name="connsiteX17" fmla="*/ 512093 w 605028"/>
              <a:gd name="connsiteY17" fmla="*/ 221857 h 604110"/>
              <a:gd name="connsiteX18" fmla="*/ 382817 w 605028"/>
              <a:gd name="connsiteY18" fmla="*/ 92864 h 604110"/>
              <a:gd name="connsiteX19" fmla="*/ 129376 w 605028"/>
              <a:gd name="connsiteY19" fmla="*/ 0 h 604110"/>
              <a:gd name="connsiteX20" fmla="*/ 201636 w 605028"/>
              <a:gd name="connsiteY20" fmla="*/ 72129 h 604110"/>
              <a:gd name="connsiteX21" fmla="*/ 139336 w 605028"/>
              <a:gd name="connsiteY21" fmla="*/ 134317 h 604110"/>
              <a:gd name="connsiteX22" fmla="*/ 168098 w 605028"/>
              <a:gd name="connsiteY22" fmla="*/ 162925 h 604110"/>
              <a:gd name="connsiteX23" fmla="*/ 230296 w 605028"/>
              <a:gd name="connsiteY23" fmla="*/ 100839 h 604110"/>
              <a:gd name="connsiteX24" fmla="*/ 273794 w 605028"/>
              <a:gd name="connsiteY24" fmla="*/ 144157 h 604110"/>
              <a:gd name="connsiteX25" fmla="*/ 144418 w 605028"/>
              <a:gd name="connsiteY25" fmla="*/ 273300 h 604110"/>
              <a:gd name="connsiteX26" fmla="*/ 0 w 605028"/>
              <a:gd name="connsiteY26" fmla="*/ 129143 h 6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5028" h="604110">
                <a:moveTo>
                  <a:pt x="45797" y="445126"/>
                </a:moveTo>
                <a:lnTo>
                  <a:pt x="159266" y="558313"/>
                </a:lnTo>
                <a:lnTo>
                  <a:pt x="0" y="604110"/>
                </a:lnTo>
                <a:close/>
                <a:moveTo>
                  <a:pt x="460648" y="330740"/>
                </a:moveTo>
                <a:lnTo>
                  <a:pt x="504033" y="374171"/>
                </a:lnTo>
                <a:lnTo>
                  <a:pt x="441749" y="436273"/>
                </a:lnTo>
                <a:lnTo>
                  <a:pt x="470504" y="464990"/>
                </a:lnTo>
                <a:lnTo>
                  <a:pt x="532787" y="402786"/>
                </a:lnTo>
                <a:lnTo>
                  <a:pt x="605028" y="474934"/>
                </a:lnTo>
                <a:lnTo>
                  <a:pt x="475685" y="604110"/>
                </a:lnTo>
                <a:lnTo>
                  <a:pt x="331305" y="459916"/>
                </a:lnTo>
                <a:close/>
                <a:moveTo>
                  <a:pt x="354026" y="121443"/>
                </a:moveTo>
                <a:lnTo>
                  <a:pt x="483302" y="250578"/>
                </a:lnTo>
                <a:lnTo>
                  <a:pt x="195889" y="537637"/>
                </a:lnTo>
                <a:lnTo>
                  <a:pt x="66543" y="408503"/>
                </a:lnTo>
                <a:close/>
                <a:moveTo>
                  <a:pt x="475681" y="0"/>
                </a:moveTo>
                <a:lnTo>
                  <a:pt x="605028" y="129134"/>
                </a:lnTo>
                <a:lnTo>
                  <a:pt x="512093" y="221857"/>
                </a:lnTo>
                <a:lnTo>
                  <a:pt x="382817" y="92864"/>
                </a:lnTo>
                <a:close/>
                <a:moveTo>
                  <a:pt x="129376" y="0"/>
                </a:moveTo>
                <a:lnTo>
                  <a:pt x="201636" y="72129"/>
                </a:lnTo>
                <a:lnTo>
                  <a:pt x="139336" y="134317"/>
                </a:lnTo>
                <a:lnTo>
                  <a:pt x="168098" y="162925"/>
                </a:lnTo>
                <a:lnTo>
                  <a:pt x="230296" y="100839"/>
                </a:lnTo>
                <a:lnTo>
                  <a:pt x="273794" y="144157"/>
                </a:lnTo>
                <a:lnTo>
                  <a:pt x="144418" y="273300"/>
                </a:lnTo>
                <a:lnTo>
                  <a:pt x="0" y="129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26" name="图形 25" descr="拼图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030" y="2178931"/>
            <a:ext cx="445630" cy="445630"/>
          </a:xfrm>
          <a:prstGeom prst="rect">
            <a:avLst/>
          </a:prstGeom>
        </p:spPr>
      </p:pic>
      <p:pic>
        <p:nvPicPr>
          <p:cNvPr id="27" name="图形 26" descr="标牌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035" y="5369754"/>
            <a:ext cx="537620" cy="5376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730375" y="979170"/>
            <a:ext cx="2321560" cy="6026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安全启示：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0375" y="1931670"/>
            <a:ext cx="10033635" cy="12687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1.“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细节决定安全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”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Git 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的大小写差异、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Vite 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的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URL 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分隔符处理等细节漏洞，警示需关注底层逻辑的边界场景。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30375" y="3550285"/>
            <a:ext cx="9622155" cy="12534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2.“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防御需分层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”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Next.js 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漏洞表明，仅依赖中间件拦截不安全，需在数据层、接口层多重鉴权。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22755" y="5168265"/>
            <a:ext cx="9629775" cy="1134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3.“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工具是双刃剑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”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Docker 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简化了环境搭建，但容器网络配置不当可能引入新风险，需强化隔离策略。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775485" y="2016414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775485" y="3634823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775485" y="5253232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4" name="school-presentation_73437"/>
          <p:cNvSpPr>
            <a:spLocks noChangeAspect="1"/>
          </p:cNvSpPr>
          <p:nvPr/>
        </p:nvSpPr>
        <p:spPr bwMode="auto">
          <a:xfrm>
            <a:off x="908366" y="3764552"/>
            <a:ext cx="362662" cy="368966"/>
          </a:xfrm>
          <a:custGeom>
            <a:avLst/>
            <a:gdLst>
              <a:gd name="T0" fmla="*/ 1387 w 2543"/>
              <a:gd name="T1" fmla="*/ 1042 h 2591"/>
              <a:gd name="T2" fmla="*/ 1406 w 2543"/>
              <a:gd name="T3" fmla="*/ 962 h 2591"/>
              <a:gd name="T4" fmla="*/ 1484 w 2543"/>
              <a:gd name="T5" fmla="*/ 978 h 2591"/>
              <a:gd name="T6" fmla="*/ 2367 w 2543"/>
              <a:gd name="T7" fmla="*/ 2324 h 2591"/>
              <a:gd name="T8" fmla="*/ 2315 w 2543"/>
              <a:gd name="T9" fmla="*/ 2378 h 2591"/>
              <a:gd name="T10" fmla="*/ 2236 w 2543"/>
              <a:gd name="T11" fmla="*/ 2361 h 2591"/>
              <a:gd name="T12" fmla="*/ 2543 w 2543"/>
              <a:gd name="T13" fmla="*/ 262 h 2591"/>
              <a:gd name="T14" fmla="*/ 2409 w 2543"/>
              <a:gd name="T15" fmla="*/ 329 h 2591"/>
              <a:gd name="T16" fmla="*/ 2370 w 2543"/>
              <a:gd name="T17" fmla="*/ 2058 h 2591"/>
              <a:gd name="T18" fmla="*/ 1935 w 2543"/>
              <a:gd name="T19" fmla="*/ 1301 h 2591"/>
              <a:gd name="T20" fmla="*/ 1935 w 2543"/>
              <a:gd name="T21" fmla="*/ 1168 h 2591"/>
              <a:gd name="T22" fmla="*/ 1595 w 2543"/>
              <a:gd name="T23" fmla="*/ 904 h 2591"/>
              <a:gd name="T24" fmla="*/ 1333 w 2543"/>
              <a:gd name="T25" fmla="*/ 851 h 2591"/>
              <a:gd name="T26" fmla="*/ 1275 w 2543"/>
              <a:gd name="T27" fmla="*/ 1114 h 2591"/>
              <a:gd name="T28" fmla="*/ 584 w 2543"/>
              <a:gd name="T29" fmla="*/ 1168 h 2591"/>
              <a:gd name="T30" fmla="*/ 584 w 2543"/>
              <a:gd name="T31" fmla="*/ 1301 h 2591"/>
              <a:gd name="T32" fmla="*/ 1887 w 2543"/>
              <a:gd name="T33" fmla="*/ 2064 h 2591"/>
              <a:gd name="T34" fmla="*/ 1338 w 2543"/>
              <a:gd name="T35" fmla="*/ 2216 h 2591"/>
              <a:gd name="T36" fmla="*/ 1271 w 2543"/>
              <a:gd name="T37" fmla="*/ 2591 h 2591"/>
              <a:gd name="T38" fmla="*/ 1205 w 2543"/>
              <a:gd name="T39" fmla="*/ 2216 h 2591"/>
              <a:gd name="T40" fmla="*/ 200 w 2543"/>
              <a:gd name="T41" fmla="*/ 2064 h 2591"/>
              <a:gd name="T42" fmla="*/ 134 w 2543"/>
              <a:gd name="T43" fmla="*/ 329 h 2591"/>
              <a:gd name="T44" fmla="*/ 0 w 2543"/>
              <a:gd name="T45" fmla="*/ 262 h 2591"/>
              <a:gd name="T46" fmla="*/ 67 w 2543"/>
              <a:gd name="T47" fmla="*/ 0 h 2591"/>
              <a:gd name="T48" fmla="*/ 2543 w 2543"/>
              <a:gd name="T49" fmla="*/ 67 h 2591"/>
              <a:gd name="T50" fmla="*/ 1271 w 2543"/>
              <a:gd name="T51" fmla="*/ 2458 h 2591"/>
              <a:gd name="T52" fmla="*/ 1271 w 2543"/>
              <a:gd name="T53" fmla="*/ 2338 h 2591"/>
              <a:gd name="T54" fmla="*/ 2002 w 2543"/>
              <a:gd name="T55" fmla="*/ 692 h 2591"/>
              <a:gd name="T56" fmla="*/ 584 w 2543"/>
              <a:gd name="T57" fmla="*/ 625 h 2591"/>
              <a:gd name="T58" fmla="*/ 584 w 2543"/>
              <a:gd name="T59" fmla="*/ 758 h 2591"/>
              <a:gd name="T60" fmla="*/ 2002 w 2543"/>
              <a:gd name="T61" fmla="*/ 692 h 2591"/>
              <a:gd name="T62" fmla="*/ 134 w 2543"/>
              <a:gd name="T63" fmla="*/ 133 h 2591"/>
              <a:gd name="T64" fmla="*/ 200 w 2543"/>
              <a:gd name="T65" fmla="*/ 196 h 2591"/>
              <a:gd name="T66" fmla="*/ 2409 w 2543"/>
              <a:gd name="T67" fmla="*/ 196 h 2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43" h="2591">
                <a:moveTo>
                  <a:pt x="2236" y="2361"/>
                </a:moveTo>
                <a:lnTo>
                  <a:pt x="1387" y="1042"/>
                </a:lnTo>
                <a:cubicBezTo>
                  <a:pt x="1370" y="1016"/>
                  <a:pt x="1378" y="981"/>
                  <a:pt x="1404" y="964"/>
                </a:cubicBezTo>
                <a:lnTo>
                  <a:pt x="1406" y="962"/>
                </a:lnTo>
                <a:cubicBezTo>
                  <a:pt x="1415" y="956"/>
                  <a:pt x="1426" y="953"/>
                  <a:pt x="1437" y="953"/>
                </a:cubicBezTo>
                <a:cubicBezTo>
                  <a:pt x="1456" y="953"/>
                  <a:pt x="1474" y="963"/>
                  <a:pt x="1484" y="978"/>
                </a:cubicBezTo>
                <a:lnTo>
                  <a:pt x="2359" y="2281"/>
                </a:lnTo>
                <a:cubicBezTo>
                  <a:pt x="2367" y="2293"/>
                  <a:pt x="2370" y="2309"/>
                  <a:pt x="2367" y="2324"/>
                </a:cubicBezTo>
                <a:cubicBezTo>
                  <a:pt x="2364" y="2339"/>
                  <a:pt x="2355" y="2351"/>
                  <a:pt x="2343" y="2360"/>
                </a:cubicBezTo>
                <a:lnTo>
                  <a:pt x="2315" y="2378"/>
                </a:lnTo>
                <a:cubicBezTo>
                  <a:pt x="2306" y="2384"/>
                  <a:pt x="2295" y="2387"/>
                  <a:pt x="2284" y="2387"/>
                </a:cubicBezTo>
                <a:cubicBezTo>
                  <a:pt x="2265" y="2387"/>
                  <a:pt x="2247" y="2378"/>
                  <a:pt x="2236" y="2361"/>
                </a:cubicBezTo>
                <a:close/>
                <a:moveTo>
                  <a:pt x="2543" y="67"/>
                </a:moveTo>
                <a:lnTo>
                  <a:pt x="2543" y="262"/>
                </a:lnTo>
                <a:cubicBezTo>
                  <a:pt x="2543" y="299"/>
                  <a:pt x="2513" y="329"/>
                  <a:pt x="2476" y="329"/>
                </a:cubicBezTo>
                <a:lnTo>
                  <a:pt x="2409" y="329"/>
                </a:lnTo>
                <a:lnTo>
                  <a:pt x="2409" y="1998"/>
                </a:lnTo>
                <a:cubicBezTo>
                  <a:pt x="2409" y="2025"/>
                  <a:pt x="2393" y="2048"/>
                  <a:pt x="2370" y="2058"/>
                </a:cubicBezTo>
                <a:lnTo>
                  <a:pt x="1862" y="1301"/>
                </a:lnTo>
                <a:lnTo>
                  <a:pt x="1935" y="1301"/>
                </a:lnTo>
                <a:cubicBezTo>
                  <a:pt x="1972" y="1301"/>
                  <a:pt x="2002" y="1271"/>
                  <a:pt x="2002" y="1234"/>
                </a:cubicBezTo>
                <a:cubicBezTo>
                  <a:pt x="2002" y="1198"/>
                  <a:pt x="1972" y="1168"/>
                  <a:pt x="1935" y="1168"/>
                </a:cubicBezTo>
                <a:lnTo>
                  <a:pt x="1772" y="1168"/>
                </a:lnTo>
                <a:lnTo>
                  <a:pt x="1595" y="904"/>
                </a:lnTo>
                <a:cubicBezTo>
                  <a:pt x="1560" y="851"/>
                  <a:pt x="1501" y="820"/>
                  <a:pt x="1437" y="820"/>
                </a:cubicBezTo>
                <a:cubicBezTo>
                  <a:pt x="1400" y="820"/>
                  <a:pt x="1364" y="831"/>
                  <a:pt x="1333" y="851"/>
                </a:cubicBezTo>
                <a:lnTo>
                  <a:pt x="1331" y="852"/>
                </a:lnTo>
                <a:cubicBezTo>
                  <a:pt x="1244" y="909"/>
                  <a:pt x="1219" y="1027"/>
                  <a:pt x="1275" y="1114"/>
                </a:cubicBezTo>
                <a:lnTo>
                  <a:pt x="1310" y="1168"/>
                </a:lnTo>
                <a:lnTo>
                  <a:pt x="584" y="1168"/>
                </a:lnTo>
                <a:cubicBezTo>
                  <a:pt x="547" y="1168"/>
                  <a:pt x="517" y="1198"/>
                  <a:pt x="517" y="1234"/>
                </a:cubicBezTo>
                <a:cubicBezTo>
                  <a:pt x="517" y="1271"/>
                  <a:pt x="547" y="1301"/>
                  <a:pt x="584" y="1301"/>
                </a:cubicBezTo>
                <a:lnTo>
                  <a:pt x="1395" y="1301"/>
                </a:lnTo>
                <a:lnTo>
                  <a:pt x="1887" y="2064"/>
                </a:lnTo>
                <a:lnTo>
                  <a:pt x="1338" y="2064"/>
                </a:lnTo>
                <a:lnTo>
                  <a:pt x="1338" y="2216"/>
                </a:lnTo>
                <a:cubicBezTo>
                  <a:pt x="1412" y="2244"/>
                  <a:pt x="1465" y="2314"/>
                  <a:pt x="1465" y="2398"/>
                </a:cubicBezTo>
                <a:cubicBezTo>
                  <a:pt x="1465" y="2504"/>
                  <a:pt x="1378" y="2591"/>
                  <a:pt x="1271" y="2591"/>
                </a:cubicBezTo>
                <a:cubicBezTo>
                  <a:pt x="1165" y="2591"/>
                  <a:pt x="1078" y="2504"/>
                  <a:pt x="1078" y="2398"/>
                </a:cubicBezTo>
                <a:cubicBezTo>
                  <a:pt x="1078" y="2314"/>
                  <a:pt x="1131" y="2244"/>
                  <a:pt x="1205" y="2216"/>
                </a:cubicBezTo>
                <a:lnTo>
                  <a:pt x="1205" y="2064"/>
                </a:lnTo>
                <a:lnTo>
                  <a:pt x="200" y="2064"/>
                </a:lnTo>
                <a:cubicBezTo>
                  <a:pt x="164" y="2064"/>
                  <a:pt x="134" y="2034"/>
                  <a:pt x="134" y="1998"/>
                </a:cubicBezTo>
                <a:lnTo>
                  <a:pt x="134" y="329"/>
                </a:lnTo>
                <a:lnTo>
                  <a:pt x="67" y="329"/>
                </a:lnTo>
                <a:cubicBezTo>
                  <a:pt x="30" y="329"/>
                  <a:pt x="0" y="299"/>
                  <a:pt x="0" y="262"/>
                </a:cubicBezTo>
                <a:lnTo>
                  <a:pt x="0" y="67"/>
                </a:lnTo>
                <a:cubicBezTo>
                  <a:pt x="0" y="30"/>
                  <a:pt x="30" y="0"/>
                  <a:pt x="67" y="0"/>
                </a:cubicBezTo>
                <a:lnTo>
                  <a:pt x="2476" y="0"/>
                </a:lnTo>
                <a:cubicBezTo>
                  <a:pt x="2513" y="0"/>
                  <a:pt x="2543" y="30"/>
                  <a:pt x="2543" y="67"/>
                </a:cubicBezTo>
                <a:close/>
                <a:moveTo>
                  <a:pt x="1211" y="2398"/>
                </a:moveTo>
                <a:cubicBezTo>
                  <a:pt x="1211" y="2431"/>
                  <a:pt x="1238" y="2458"/>
                  <a:pt x="1271" y="2458"/>
                </a:cubicBezTo>
                <a:cubicBezTo>
                  <a:pt x="1305" y="2458"/>
                  <a:pt x="1331" y="2431"/>
                  <a:pt x="1331" y="2398"/>
                </a:cubicBezTo>
                <a:cubicBezTo>
                  <a:pt x="1331" y="2364"/>
                  <a:pt x="1305" y="2338"/>
                  <a:pt x="1271" y="2338"/>
                </a:cubicBezTo>
                <a:cubicBezTo>
                  <a:pt x="1238" y="2338"/>
                  <a:pt x="1211" y="2364"/>
                  <a:pt x="1211" y="2398"/>
                </a:cubicBezTo>
                <a:close/>
                <a:moveTo>
                  <a:pt x="2002" y="692"/>
                </a:moveTo>
                <a:cubicBezTo>
                  <a:pt x="2002" y="655"/>
                  <a:pt x="1972" y="625"/>
                  <a:pt x="1935" y="625"/>
                </a:cubicBezTo>
                <a:lnTo>
                  <a:pt x="584" y="625"/>
                </a:lnTo>
                <a:cubicBezTo>
                  <a:pt x="547" y="625"/>
                  <a:pt x="517" y="655"/>
                  <a:pt x="517" y="692"/>
                </a:cubicBezTo>
                <a:cubicBezTo>
                  <a:pt x="517" y="729"/>
                  <a:pt x="547" y="758"/>
                  <a:pt x="584" y="758"/>
                </a:cubicBezTo>
                <a:lnTo>
                  <a:pt x="1935" y="758"/>
                </a:lnTo>
                <a:cubicBezTo>
                  <a:pt x="1972" y="758"/>
                  <a:pt x="2002" y="729"/>
                  <a:pt x="2002" y="692"/>
                </a:cubicBezTo>
                <a:close/>
                <a:moveTo>
                  <a:pt x="2409" y="133"/>
                </a:moveTo>
                <a:lnTo>
                  <a:pt x="134" y="133"/>
                </a:lnTo>
                <a:lnTo>
                  <a:pt x="134" y="196"/>
                </a:lnTo>
                <a:lnTo>
                  <a:pt x="200" y="196"/>
                </a:lnTo>
                <a:lnTo>
                  <a:pt x="2343" y="196"/>
                </a:lnTo>
                <a:lnTo>
                  <a:pt x="2409" y="196"/>
                </a:lnTo>
                <a:lnTo>
                  <a:pt x="2409" y="1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accept_38398"/>
          <p:cNvSpPr>
            <a:spLocks noChangeAspect="1"/>
          </p:cNvSpPr>
          <p:nvPr/>
        </p:nvSpPr>
        <p:spPr bwMode="auto">
          <a:xfrm>
            <a:off x="854383" y="2090027"/>
            <a:ext cx="470628" cy="442048"/>
          </a:xfrm>
          <a:custGeom>
            <a:avLst/>
            <a:gdLst>
              <a:gd name="connsiteX0" fmla="*/ 543411 w 606580"/>
              <a:gd name="connsiteY0" fmla="*/ 61956 h 569745"/>
              <a:gd name="connsiteX1" fmla="*/ 556798 w 606580"/>
              <a:gd name="connsiteY1" fmla="*/ 67559 h 569745"/>
              <a:gd name="connsiteX2" fmla="*/ 601369 w 606580"/>
              <a:gd name="connsiteY2" fmla="*/ 112060 h 569745"/>
              <a:gd name="connsiteX3" fmla="*/ 606580 w 606580"/>
              <a:gd name="connsiteY3" fmla="*/ 125346 h 569745"/>
              <a:gd name="connsiteX4" fmla="*/ 601369 w 606580"/>
              <a:gd name="connsiteY4" fmla="*/ 138712 h 569745"/>
              <a:gd name="connsiteX5" fmla="*/ 295704 w 606580"/>
              <a:gd name="connsiteY5" fmla="*/ 442134 h 569745"/>
              <a:gd name="connsiteX6" fmla="*/ 281916 w 606580"/>
              <a:gd name="connsiteY6" fmla="*/ 447737 h 569745"/>
              <a:gd name="connsiteX7" fmla="*/ 279671 w 606580"/>
              <a:gd name="connsiteY7" fmla="*/ 447337 h 569745"/>
              <a:gd name="connsiteX8" fmla="*/ 268528 w 606580"/>
              <a:gd name="connsiteY8" fmla="*/ 442134 h 569745"/>
              <a:gd name="connsiteX9" fmla="*/ 117339 w 606580"/>
              <a:gd name="connsiteY9" fmla="*/ 290783 h 569745"/>
              <a:gd name="connsiteX10" fmla="*/ 112128 w 606580"/>
              <a:gd name="connsiteY10" fmla="*/ 277497 h 569745"/>
              <a:gd name="connsiteX11" fmla="*/ 117339 w 606580"/>
              <a:gd name="connsiteY11" fmla="*/ 264451 h 569745"/>
              <a:gd name="connsiteX12" fmla="*/ 162311 w 606580"/>
              <a:gd name="connsiteY12" fmla="*/ 219950 h 569745"/>
              <a:gd name="connsiteX13" fmla="*/ 175297 w 606580"/>
              <a:gd name="connsiteY13" fmla="*/ 214428 h 569745"/>
              <a:gd name="connsiteX14" fmla="*/ 188685 w 606580"/>
              <a:gd name="connsiteY14" fmla="*/ 219950 h 569745"/>
              <a:gd name="connsiteX15" fmla="*/ 282316 w 606580"/>
              <a:gd name="connsiteY15" fmla="*/ 313434 h 569745"/>
              <a:gd name="connsiteX16" fmla="*/ 530023 w 606580"/>
              <a:gd name="connsiteY16" fmla="*/ 67559 h 569745"/>
              <a:gd name="connsiteX17" fmla="*/ 543411 w 606580"/>
              <a:gd name="connsiteY17" fmla="*/ 61956 h 569745"/>
              <a:gd name="connsiteX18" fmla="*/ 285296 w 606580"/>
              <a:gd name="connsiteY18" fmla="*/ 0 h 569745"/>
              <a:gd name="connsiteX19" fmla="*/ 332832 w 606580"/>
              <a:gd name="connsiteY19" fmla="*/ 19690 h 569745"/>
              <a:gd name="connsiteX20" fmla="*/ 431271 w 606580"/>
              <a:gd name="connsiteY20" fmla="*/ 117983 h 569745"/>
              <a:gd name="connsiteX21" fmla="*/ 283452 w 606580"/>
              <a:gd name="connsiteY21" fmla="*/ 265982 h 569745"/>
              <a:gd name="connsiteX22" fmla="*/ 213631 w 606580"/>
              <a:gd name="connsiteY22" fmla="*/ 196265 h 569745"/>
              <a:gd name="connsiteX23" fmla="*/ 176837 w 606580"/>
              <a:gd name="connsiteY23" fmla="*/ 180657 h 569745"/>
              <a:gd name="connsiteX24" fmla="*/ 139642 w 606580"/>
              <a:gd name="connsiteY24" fmla="*/ 195865 h 569745"/>
              <a:gd name="connsiteX25" fmla="*/ 95072 w 606580"/>
              <a:gd name="connsiteY25" fmla="*/ 240769 h 569745"/>
              <a:gd name="connsiteX26" fmla="*/ 79521 w 606580"/>
              <a:gd name="connsiteY26" fmla="*/ 277509 h 569745"/>
              <a:gd name="connsiteX27" fmla="*/ 95072 w 606580"/>
              <a:gd name="connsiteY27" fmla="*/ 314568 h 569745"/>
              <a:gd name="connsiteX28" fmla="*/ 245937 w 606580"/>
              <a:gd name="connsiteY28" fmla="*/ 465930 h 569745"/>
              <a:gd name="connsiteX29" fmla="*/ 270787 w 606580"/>
              <a:gd name="connsiteY29" fmla="*/ 479617 h 569745"/>
              <a:gd name="connsiteX30" fmla="*/ 273031 w 606580"/>
              <a:gd name="connsiteY30" fmla="*/ 481138 h 569745"/>
              <a:gd name="connsiteX31" fmla="*/ 283452 w 606580"/>
              <a:gd name="connsiteY31" fmla="*/ 481138 h 569745"/>
              <a:gd name="connsiteX32" fmla="*/ 320247 w 606580"/>
              <a:gd name="connsiteY32" fmla="*/ 465930 h 569745"/>
              <a:gd name="connsiteX33" fmla="*/ 550151 w 606580"/>
              <a:gd name="connsiteY33" fmla="*/ 236287 h 569745"/>
              <a:gd name="connsiteX34" fmla="*/ 550872 w 606580"/>
              <a:gd name="connsiteY34" fmla="*/ 237407 h 569745"/>
              <a:gd name="connsiteX35" fmla="*/ 570592 w 606580"/>
              <a:gd name="connsiteY35" fmla="*/ 284873 h 569745"/>
              <a:gd name="connsiteX36" fmla="*/ 550872 w 606580"/>
              <a:gd name="connsiteY36" fmla="*/ 332338 h 569745"/>
              <a:gd name="connsiteX37" fmla="*/ 332832 w 606580"/>
              <a:gd name="connsiteY37" fmla="*/ 550135 h 569745"/>
              <a:gd name="connsiteX38" fmla="*/ 285456 w 606580"/>
              <a:gd name="connsiteY38" fmla="*/ 569745 h 569745"/>
              <a:gd name="connsiteX39" fmla="*/ 237760 w 606580"/>
              <a:gd name="connsiteY39" fmla="*/ 550135 h 569745"/>
              <a:gd name="connsiteX40" fmla="*/ 19720 w 606580"/>
              <a:gd name="connsiteY40" fmla="*/ 332338 h 569745"/>
              <a:gd name="connsiteX41" fmla="*/ 0 w 606580"/>
              <a:gd name="connsiteY41" fmla="*/ 284873 h 569745"/>
              <a:gd name="connsiteX42" fmla="*/ 19720 w 606580"/>
              <a:gd name="connsiteY42" fmla="*/ 237407 h 569745"/>
              <a:gd name="connsiteX43" fmla="*/ 237760 w 606580"/>
              <a:gd name="connsiteY43" fmla="*/ 19690 h 569745"/>
              <a:gd name="connsiteX44" fmla="*/ 285296 w 606580"/>
              <a:gd name="connsiteY44" fmla="*/ 0 h 569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6580" h="569745">
                <a:moveTo>
                  <a:pt x="543411" y="61956"/>
                </a:moveTo>
                <a:cubicBezTo>
                  <a:pt x="548621" y="61956"/>
                  <a:pt x="553030" y="63797"/>
                  <a:pt x="556798" y="67559"/>
                </a:cubicBezTo>
                <a:lnTo>
                  <a:pt x="601369" y="112060"/>
                </a:lnTo>
                <a:cubicBezTo>
                  <a:pt x="604816" y="115741"/>
                  <a:pt x="606580" y="120223"/>
                  <a:pt x="606580" y="125346"/>
                </a:cubicBezTo>
                <a:cubicBezTo>
                  <a:pt x="606580" y="130548"/>
                  <a:pt x="604816" y="135030"/>
                  <a:pt x="601369" y="138712"/>
                </a:cubicBezTo>
                <a:lnTo>
                  <a:pt x="295704" y="442134"/>
                </a:lnTo>
                <a:cubicBezTo>
                  <a:pt x="291455" y="445896"/>
                  <a:pt x="286886" y="447737"/>
                  <a:pt x="281916" y="447737"/>
                </a:cubicBezTo>
                <a:cubicBezTo>
                  <a:pt x="280954" y="447737"/>
                  <a:pt x="280232" y="447577"/>
                  <a:pt x="279671" y="447337"/>
                </a:cubicBezTo>
                <a:cubicBezTo>
                  <a:pt x="275262" y="446857"/>
                  <a:pt x="271494" y="445096"/>
                  <a:pt x="268528" y="442134"/>
                </a:cubicBezTo>
                <a:lnTo>
                  <a:pt x="117339" y="290783"/>
                </a:lnTo>
                <a:cubicBezTo>
                  <a:pt x="113892" y="287102"/>
                  <a:pt x="112128" y="282700"/>
                  <a:pt x="112128" y="277497"/>
                </a:cubicBezTo>
                <a:cubicBezTo>
                  <a:pt x="112128" y="272295"/>
                  <a:pt x="113892" y="267973"/>
                  <a:pt x="117339" y="264451"/>
                </a:cubicBezTo>
                <a:lnTo>
                  <a:pt x="162311" y="219950"/>
                </a:lnTo>
                <a:cubicBezTo>
                  <a:pt x="165517" y="216268"/>
                  <a:pt x="169846" y="214428"/>
                  <a:pt x="175297" y="214428"/>
                </a:cubicBezTo>
                <a:cubicBezTo>
                  <a:pt x="180748" y="214428"/>
                  <a:pt x="185238" y="216268"/>
                  <a:pt x="188685" y="219950"/>
                </a:cubicBezTo>
                <a:lnTo>
                  <a:pt x="282316" y="313434"/>
                </a:lnTo>
                <a:lnTo>
                  <a:pt x="530023" y="67559"/>
                </a:lnTo>
                <a:cubicBezTo>
                  <a:pt x="533711" y="63797"/>
                  <a:pt x="538200" y="61956"/>
                  <a:pt x="543411" y="61956"/>
                </a:cubicBezTo>
                <a:close/>
                <a:moveTo>
                  <a:pt x="285296" y="0"/>
                </a:moveTo>
                <a:cubicBezTo>
                  <a:pt x="303894" y="0"/>
                  <a:pt x="319685" y="6563"/>
                  <a:pt x="332832" y="19690"/>
                </a:cubicBezTo>
                <a:lnTo>
                  <a:pt x="431271" y="117983"/>
                </a:lnTo>
                <a:lnTo>
                  <a:pt x="283452" y="265982"/>
                </a:lnTo>
                <a:lnTo>
                  <a:pt x="213631" y="196265"/>
                </a:lnTo>
                <a:cubicBezTo>
                  <a:pt x="203210" y="185860"/>
                  <a:pt x="190946" y="180657"/>
                  <a:pt x="176837" y="180657"/>
                </a:cubicBezTo>
                <a:cubicBezTo>
                  <a:pt x="162248" y="180657"/>
                  <a:pt x="149822" y="185780"/>
                  <a:pt x="139642" y="195865"/>
                </a:cubicBezTo>
                <a:lnTo>
                  <a:pt x="95072" y="240769"/>
                </a:lnTo>
                <a:cubicBezTo>
                  <a:pt x="84731" y="250694"/>
                  <a:pt x="79521" y="262861"/>
                  <a:pt x="79521" y="277509"/>
                </a:cubicBezTo>
                <a:cubicBezTo>
                  <a:pt x="79521" y="291836"/>
                  <a:pt x="84731" y="304163"/>
                  <a:pt x="95072" y="314568"/>
                </a:cubicBezTo>
                <a:lnTo>
                  <a:pt x="245937" y="465930"/>
                </a:lnTo>
                <a:cubicBezTo>
                  <a:pt x="253311" y="472813"/>
                  <a:pt x="261648" y="477376"/>
                  <a:pt x="270787" y="479617"/>
                </a:cubicBezTo>
                <a:lnTo>
                  <a:pt x="273031" y="481138"/>
                </a:lnTo>
                <a:lnTo>
                  <a:pt x="283452" y="481138"/>
                </a:lnTo>
                <a:cubicBezTo>
                  <a:pt x="298282" y="481138"/>
                  <a:pt x="310547" y="476015"/>
                  <a:pt x="320247" y="465930"/>
                </a:cubicBezTo>
                <a:lnTo>
                  <a:pt x="550151" y="236287"/>
                </a:lnTo>
                <a:lnTo>
                  <a:pt x="550872" y="237407"/>
                </a:lnTo>
                <a:cubicBezTo>
                  <a:pt x="564019" y="250534"/>
                  <a:pt x="570592" y="266303"/>
                  <a:pt x="570592" y="284873"/>
                </a:cubicBezTo>
                <a:cubicBezTo>
                  <a:pt x="570592" y="303443"/>
                  <a:pt x="564019" y="319291"/>
                  <a:pt x="550872" y="332338"/>
                </a:cubicBezTo>
                <a:lnTo>
                  <a:pt x="332832" y="550135"/>
                </a:lnTo>
                <a:cubicBezTo>
                  <a:pt x="319926" y="563182"/>
                  <a:pt x="304134" y="569745"/>
                  <a:pt x="285456" y="569745"/>
                </a:cubicBezTo>
                <a:cubicBezTo>
                  <a:pt x="266779" y="569745"/>
                  <a:pt x="250826" y="563182"/>
                  <a:pt x="237760" y="550135"/>
                </a:cubicBezTo>
                <a:lnTo>
                  <a:pt x="19720" y="332338"/>
                </a:lnTo>
                <a:cubicBezTo>
                  <a:pt x="6573" y="319291"/>
                  <a:pt x="0" y="303443"/>
                  <a:pt x="0" y="284873"/>
                </a:cubicBezTo>
                <a:cubicBezTo>
                  <a:pt x="0" y="266383"/>
                  <a:pt x="6573" y="250534"/>
                  <a:pt x="19720" y="237407"/>
                </a:cubicBezTo>
                <a:lnTo>
                  <a:pt x="237760" y="19690"/>
                </a:lnTo>
                <a:cubicBezTo>
                  <a:pt x="250907" y="6563"/>
                  <a:pt x="266698" y="0"/>
                  <a:pt x="2852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2" name="intelligence_66143"/>
          <p:cNvSpPr>
            <a:spLocks noChangeAspect="1"/>
          </p:cNvSpPr>
          <p:nvPr/>
        </p:nvSpPr>
        <p:spPr bwMode="auto">
          <a:xfrm>
            <a:off x="931369" y="5382022"/>
            <a:ext cx="316656" cy="370844"/>
          </a:xfrm>
          <a:custGeom>
            <a:avLst/>
            <a:gdLst>
              <a:gd name="connsiteX0" fmla="*/ 220247 w 519074"/>
              <a:gd name="connsiteY0" fmla="*/ 135608 h 607902"/>
              <a:gd name="connsiteX1" fmla="*/ 265974 w 519074"/>
              <a:gd name="connsiteY1" fmla="*/ 181264 h 607902"/>
              <a:gd name="connsiteX2" fmla="*/ 220247 w 519074"/>
              <a:gd name="connsiteY2" fmla="*/ 226920 h 607902"/>
              <a:gd name="connsiteX3" fmla="*/ 174521 w 519074"/>
              <a:gd name="connsiteY3" fmla="*/ 181264 h 607902"/>
              <a:gd name="connsiteX4" fmla="*/ 220247 w 519074"/>
              <a:gd name="connsiteY4" fmla="*/ 135608 h 607902"/>
              <a:gd name="connsiteX5" fmla="*/ 212236 w 519074"/>
              <a:gd name="connsiteY5" fmla="*/ 59615 h 607902"/>
              <a:gd name="connsiteX6" fmla="*/ 202277 w 519074"/>
              <a:gd name="connsiteY6" fmla="*/ 66210 h 607902"/>
              <a:gd name="connsiteX7" fmla="*/ 191760 w 519074"/>
              <a:gd name="connsiteY7" fmla="*/ 91321 h 607902"/>
              <a:gd name="connsiteX8" fmla="*/ 185714 w 519074"/>
              <a:gd name="connsiteY8" fmla="*/ 97206 h 607902"/>
              <a:gd name="connsiteX9" fmla="*/ 185054 w 519074"/>
              <a:gd name="connsiteY9" fmla="*/ 97459 h 607902"/>
              <a:gd name="connsiteX10" fmla="*/ 176924 w 519074"/>
              <a:gd name="connsiteY10" fmla="*/ 97459 h 607902"/>
              <a:gd name="connsiteX11" fmla="*/ 151521 w 519074"/>
              <a:gd name="connsiteY11" fmla="*/ 87263 h 607902"/>
              <a:gd name="connsiteX12" fmla="*/ 139886 w 519074"/>
              <a:gd name="connsiteY12" fmla="*/ 89647 h 607902"/>
              <a:gd name="connsiteX13" fmla="*/ 128403 w 519074"/>
              <a:gd name="connsiteY13" fmla="*/ 101061 h 607902"/>
              <a:gd name="connsiteX14" fmla="*/ 126066 w 519074"/>
              <a:gd name="connsiteY14" fmla="*/ 112780 h 607902"/>
              <a:gd name="connsiteX15" fmla="*/ 136329 w 519074"/>
              <a:gd name="connsiteY15" fmla="*/ 137739 h 607902"/>
              <a:gd name="connsiteX16" fmla="*/ 136329 w 519074"/>
              <a:gd name="connsiteY16" fmla="*/ 145906 h 607902"/>
              <a:gd name="connsiteX17" fmla="*/ 136024 w 519074"/>
              <a:gd name="connsiteY17" fmla="*/ 146870 h 607902"/>
              <a:gd name="connsiteX18" fmla="*/ 130181 w 519074"/>
              <a:gd name="connsiteY18" fmla="*/ 152806 h 607902"/>
              <a:gd name="connsiteX19" fmla="*/ 105133 w 519074"/>
              <a:gd name="connsiteY19" fmla="*/ 163510 h 607902"/>
              <a:gd name="connsiteX20" fmla="*/ 98528 w 519074"/>
              <a:gd name="connsiteY20" fmla="*/ 173351 h 607902"/>
              <a:gd name="connsiteX21" fmla="*/ 98528 w 519074"/>
              <a:gd name="connsiteY21" fmla="*/ 173402 h 607902"/>
              <a:gd name="connsiteX22" fmla="*/ 98630 w 519074"/>
              <a:gd name="connsiteY22" fmla="*/ 173402 h 607902"/>
              <a:gd name="connsiteX23" fmla="*/ 98630 w 519074"/>
              <a:gd name="connsiteY23" fmla="*/ 189534 h 607902"/>
              <a:gd name="connsiteX24" fmla="*/ 105235 w 519074"/>
              <a:gd name="connsiteY24" fmla="*/ 199477 h 607902"/>
              <a:gd name="connsiteX25" fmla="*/ 130181 w 519074"/>
              <a:gd name="connsiteY25" fmla="*/ 209826 h 607902"/>
              <a:gd name="connsiteX26" fmla="*/ 136075 w 519074"/>
              <a:gd name="connsiteY26" fmla="*/ 215812 h 607902"/>
              <a:gd name="connsiteX27" fmla="*/ 136482 w 519074"/>
              <a:gd name="connsiteY27" fmla="*/ 216725 h 607902"/>
              <a:gd name="connsiteX28" fmla="*/ 136532 w 519074"/>
              <a:gd name="connsiteY28" fmla="*/ 224943 h 607902"/>
              <a:gd name="connsiteX29" fmla="*/ 126371 w 519074"/>
              <a:gd name="connsiteY29" fmla="*/ 250156 h 607902"/>
              <a:gd name="connsiteX30" fmla="*/ 128759 w 519074"/>
              <a:gd name="connsiteY30" fmla="*/ 261773 h 607902"/>
              <a:gd name="connsiteX31" fmla="*/ 140191 w 519074"/>
              <a:gd name="connsiteY31" fmla="*/ 273238 h 607902"/>
              <a:gd name="connsiteX32" fmla="*/ 151927 w 519074"/>
              <a:gd name="connsiteY32" fmla="*/ 275572 h 607902"/>
              <a:gd name="connsiteX33" fmla="*/ 177077 w 519074"/>
              <a:gd name="connsiteY33" fmla="*/ 265223 h 607902"/>
              <a:gd name="connsiteX34" fmla="*/ 185206 w 519074"/>
              <a:gd name="connsiteY34" fmla="*/ 265223 h 607902"/>
              <a:gd name="connsiteX35" fmla="*/ 185867 w 519074"/>
              <a:gd name="connsiteY35" fmla="*/ 265476 h 607902"/>
              <a:gd name="connsiteX36" fmla="*/ 191964 w 519074"/>
              <a:gd name="connsiteY36" fmla="*/ 271310 h 607902"/>
              <a:gd name="connsiteX37" fmla="*/ 202735 w 519074"/>
              <a:gd name="connsiteY37" fmla="*/ 296472 h 607902"/>
              <a:gd name="connsiteX38" fmla="*/ 212642 w 519074"/>
              <a:gd name="connsiteY38" fmla="*/ 303016 h 607902"/>
              <a:gd name="connsiteX39" fmla="*/ 228799 w 519074"/>
              <a:gd name="connsiteY39" fmla="*/ 303016 h 607902"/>
              <a:gd name="connsiteX40" fmla="*/ 238757 w 519074"/>
              <a:gd name="connsiteY40" fmla="*/ 296421 h 607902"/>
              <a:gd name="connsiteX41" fmla="*/ 249224 w 519074"/>
              <a:gd name="connsiteY41" fmla="*/ 271057 h 607902"/>
              <a:gd name="connsiteX42" fmla="*/ 255117 w 519074"/>
              <a:gd name="connsiteY42" fmla="*/ 265223 h 607902"/>
              <a:gd name="connsiteX43" fmla="*/ 255575 w 519074"/>
              <a:gd name="connsiteY43" fmla="*/ 265020 h 607902"/>
              <a:gd name="connsiteX44" fmla="*/ 263704 w 519074"/>
              <a:gd name="connsiteY44" fmla="*/ 264969 h 607902"/>
              <a:gd name="connsiteX45" fmla="*/ 289463 w 519074"/>
              <a:gd name="connsiteY45" fmla="*/ 275216 h 607902"/>
              <a:gd name="connsiteX46" fmla="*/ 301098 w 519074"/>
              <a:gd name="connsiteY46" fmla="*/ 272883 h 607902"/>
              <a:gd name="connsiteX47" fmla="*/ 312530 w 519074"/>
              <a:gd name="connsiteY47" fmla="*/ 261418 h 607902"/>
              <a:gd name="connsiteX48" fmla="*/ 314918 w 519074"/>
              <a:gd name="connsiteY48" fmla="*/ 249750 h 607902"/>
              <a:gd name="connsiteX49" fmla="*/ 304350 w 519074"/>
              <a:gd name="connsiteY49" fmla="*/ 224284 h 607902"/>
              <a:gd name="connsiteX50" fmla="*/ 304299 w 519074"/>
              <a:gd name="connsiteY50" fmla="*/ 216268 h 607902"/>
              <a:gd name="connsiteX51" fmla="*/ 304401 w 519074"/>
              <a:gd name="connsiteY51" fmla="*/ 215913 h 607902"/>
              <a:gd name="connsiteX52" fmla="*/ 310244 w 519074"/>
              <a:gd name="connsiteY52" fmla="*/ 209978 h 607902"/>
              <a:gd name="connsiteX53" fmla="*/ 335851 w 519074"/>
              <a:gd name="connsiteY53" fmla="*/ 199071 h 607902"/>
              <a:gd name="connsiteX54" fmla="*/ 342405 w 519074"/>
              <a:gd name="connsiteY54" fmla="*/ 189179 h 607902"/>
              <a:gd name="connsiteX55" fmla="*/ 342405 w 519074"/>
              <a:gd name="connsiteY55" fmla="*/ 173047 h 607902"/>
              <a:gd name="connsiteX56" fmla="*/ 335800 w 519074"/>
              <a:gd name="connsiteY56" fmla="*/ 163104 h 607902"/>
              <a:gd name="connsiteX57" fmla="*/ 310295 w 519074"/>
              <a:gd name="connsiteY57" fmla="*/ 152450 h 607902"/>
              <a:gd name="connsiteX58" fmla="*/ 304401 w 519074"/>
              <a:gd name="connsiteY58" fmla="*/ 146464 h 607902"/>
              <a:gd name="connsiteX59" fmla="*/ 304350 w 519074"/>
              <a:gd name="connsiteY59" fmla="*/ 146261 h 607902"/>
              <a:gd name="connsiteX60" fmla="*/ 304248 w 519074"/>
              <a:gd name="connsiteY60" fmla="*/ 138145 h 607902"/>
              <a:gd name="connsiteX61" fmla="*/ 314562 w 519074"/>
              <a:gd name="connsiteY61" fmla="*/ 112425 h 607902"/>
              <a:gd name="connsiteX62" fmla="*/ 312174 w 519074"/>
              <a:gd name="connsiteY62" fmla="*/ 100808 h 607902"/>
              <a:gd name="connsiteX63" fmla="*/ 300743 w 519074"/>
              <a:gd name="connsiteY63" fmla="*/ 89343 h 607902"/>
              <a:gd name="connsiteX64" fmla="*/ 289006 w 519074"/>
              <a:gd name="connsiteY64" fmla="*/ 87009 h 607902"/>
              <a:gd name="connsiteX65" fmla="*/ 263704 w 519074"/>
              <a:gd name="connsiteY65" fmla="*/ 97409 h 607902"/>
              <a:gd name="connsiteX66" fmla="*/ 255422 w 519074"/>
              <a:gd name="connsiteY66" fmla="*/ 97409 h 607902"/>
              <a:gd name="connsiteX67" fmla="*/ 255016 w 519074"/>
              <a:gd name="connsiteY67" fmla="*/ 97257 h 607902"/>
              <a:gd name="connsiteX68" fmla="*/ 249122 w 519074"/>
              <a:gd name="connsiteY68" fmla="*/ 91524 h 607902"/>
              <a:gd name="connsiteX69" fmla="*/ 238300 w 519074"/>
              <a:gd name="connsiteY69" fmla="*/ 66159 h 607902"/>
              <a:gd name="connsiteX70" fmla="*/ 228393 w 519074"/>
              <a:gd name="connsiteY70" fmla="*/ 59615 h 607902"/>
              <a:gd name="connsiteX71" fmla="*/ 227935 w 519074"/>
              <a:gd name="connsiteY71" fmla="*/ 8 h 607902"/>
              <a:gd name="connsiteX72" fmla="*/ 459669 w 519074"/>
              <a:gd name="connsiteY72" fmla="*/ 229458 h 607902"/>
              <a:gd name="connsiteX73" fmla="*/ 474099 w 519074"/>
              <a:gd name="connsiteY73" fmla="*/ 287341 h 607902"/>
              <a:gd name="connsiteX74" fmla="*/ 516625 w 519074"/>
              <a:gd name="connsiteY74" fmla="*/ 367443 h 607902"/>
              <a:gd name="connsiteX75" fmla="*/ 498689 w 519074"/>
              <a:gd name="connsiteY75" fmla="*/ 397779 h 607902"/>
              <a:gd name="connsiteX76" fmla="*/ 459720 w 519074"/>
              <a:gd name="connsiteY76" fmla="*/ 398540 h 607902"/>
              <a:gd name="connsiteX77" fmla="*/ 459720 w 519074"/>
              <a:gd name="connsiteY77" fmla="*/ 483107 h 607902"/>
              <a:gd name="connsiteX78" fmla="*/ 411402 w 519074"/>
              <a:gd name="connsiteY78" fmla="*/ 531402 h 607902"/>
              <a:gd name="connsiteX79" fmla="*/ 344844 w 519074"/>
              <a:gd name="connsiteY79" fmla="*/ 531402 h 607902"/>
              <a:gd name="connsiteX80" fmla="*/ 344844 w 519074"/>
              <a:gd name="connsiteY80" fmla="*/ 590958 h 607902"/>
              <a:gd name="connsiteX81" fmla="*/ 327925 w 519074"/>
              <a:gd name="connsiteY81" fmla="*/ 607902 h 607902"/>
              <a:gd name="connsiteX82" fmla="*/ 89688 w 519074"/>
              <a:gd name="connsiteY82" fmla="*/ 607902 h 607902"/>
              <a:gd name="connsiteX83" fmla="*/ 72718 w 519074"/>
              <a:gd name="connsiteY83" fmla="*/ 590958 h 607902"/>
              <a:gd name="connsiteX84" fmla="*/ 72718 w 519074"/>
              <a:gd name="connsiteY84" fmla="*/ 529829 h 607902"/>
              <a:gd name="connsiteX85" fmla="*/ 25111 w 519074"/>
              <a:gd name="connsiteY85" fmla="*/ 333657 h 607902"/>
              <a:gd name="connsiteX86" fmla="*/ 12 w 519074"/>
              <a:gd name="connsiteY86" fmla="*/ 231792 h 607902"/>
              <a:gd name="connsiteX87" fmla="*/ 227935 w 519074"/>
              <a:gd name="connsiteY87" fmla="*/ 8 h 60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19074" h="607902">
                <a:moveTo>
                  <a:pt x="220247" y="135608"/>
                </a:moveTo>
                <a:cubicBezTo>
                  <a:pt x="245549" y="135608"/>
                  <a:pt x="265974" y="156052"/>
                  <a:pt x="265974" y="181264"/>
                </a:cubicBezTo>
                <a:cubicBezTo>
                  <a:pt x="265974" y="206527"/>
                  <a:pt x="245499" y="226920"/>
                  <a:pt x="220247" y="226920"/>
                </a:cubicBezTo>
                <a:cubicBezTo>
                  <a:pt x="194996" y="226920"/>
                  <a:pt x="174521" y="206426"/>
                  <a:pt x="174521" y="181264"/>
                </a:cubicBezTo>
                <a:cubicBezTo>
                  <a:pt x="174521" y="156052"/>
                  <a:pt x="194996" y="135608"/>
                  <a:pt x="220247" y="135608"/>
                </a:cubicBezTo>
                <a:close/>
                <a:moveTo>
                  <a:pt x="212236" y="59615"/>
                </a:moveTo>
                <a:cubicBezTo>
                  <a:pt x="207866" y="59615"/>
                  <a:pt x="203954" y="62253"/>
                  <a:pt x="202277" y="66210"/>
                </a:cubicBezTo>
                <a:lnTo>
                  <a:pt x="191760" y="91321"/>
                </a:lnTo>
                <a:cubicBezTo>
                  <a:pt x="190592" y="94010"/>
                  <a:pt x="188458" y="96140"/>
                  <a:pt x="185714" y="97206"/>
                </a:cubicBezTo>
                <a:cubicBezTo>
                  <a:pt x="185511" y="97257"/>
                  <a:pt x="185257" y="97409"/>
                  <a:pt x="185054" y="97459"/>
                </a:cubicBezTo>
                <a:cubicBezTo>
                  <a:pt x="182412" y="98474"/>
                  <a:pt x="179516" y="98474"/>
                  <a:pt x="176924" y="97459"/>
                </a:cubicBezTo>
                <a:lnTo>
                  <a:pt x="151521" y="87263"/>
                </a:lnTo>
                <a:cubicBezTo>
                  <a:pt x="147507" y="85639"/>
                  <a:pt x="142934" y="86603"/>
                  <a:pt x="139886" y="89647"/>
                </a:cubicBezTo>
                <a:lnTo>
                  <a:pt x="128403" y="101061"/>
                </a:lnTo>
                <a:cubicBezTo>
                  <a:pt x="125304" y="104105"/>
                  <a:pt x="124440" y="108772"/>
                  <a:pt x="126066" y="112780"/>
                </a:cubicBezTo>
                <a:lnTo>
                  <a:pt x="136329" y="137739"/>
                </a:lnTo>
                <a:cubicBezTo>
                  <a:pt x="137447" y="140377"/>
                  <a:pt x="137447" y="143268"/>
                  <a:pt x="136329" y="145906"/>
                </a:cubicBezTo>
                <a:cubicBezTo>
                  <a:pt x="136278" y="146261"/>
                  <a:pt x="136126" y="146515"/>
                  <a:pt x="136024" y="146870"/>
                </a:cubicBezTo>
                <a:cubicBezTo>
                  <a:pt x="134907" y="149508"/>
                  <a:pt x="132823" y="151639"/>
                  <a:pt x="130181" y="152806"/>
                </a:cubicBezTo>
                <a:lnTo>
                  <a:pt x="105133" y="163510"/>
                </a:lnTo>
                <a:cubicBezTo>
                  <a:pt x="101119" y="165184"/>
                  <a:pt x="98528" y="169039"/>
                  <a:pt x="98528" y="173351"/>
                </a:cubicBezTo>
                <a:lnTo>
                  <a:pt x="98528" y="173402"/>
                </a:lnTo>
                <a:lnTo>
                  <a:pt x="98630" y="173402"/>
                </a:lnTo>
                <a:lnTo>
                  <a:pt x="98630" y="189534"/>
                </a:lnTo>
                <a:cubicBezTo>
                  <a:pt x="98630" y="193897"/>
                  <a:pt x="101272" y="197803"/>
                  <a:pt x="105235" y="199477"/>
                </a:cubicBezTo>
                <a:lnTo>
                  <a:pt x="130181" y="209826"/>
                </a:lnTo>
                <a:cubicBezTo>
                  <a:pt x="132874" y="210942"/>
                  <a:pt x="135008" y="213073"/>
                  <a:pt x="136075" y="215812"/>
                </a:cubicBezTo>
                <a:cubicBezTo>
                  <a:pt x="136228" y="216116"/>
                  <a:pt x="136329" y="216421"/>
                  <a:pt x="136482" y="216725"/>
                </a:cubicBezTo>
                <a:cubicBezTo>
                  <a:pt x="137549" y="219363"/>
                  <a:pt x="137650" y="222305"/>
                  <a:pt x="136532" y="224943"/>
                </a:cubicBezTo>
                <a:lnTo>
                  <a:pt x="126371" y="250156"/>
                </a:lnTo>
                <a:cubicBezTo>
                  <a:pt x="124745" y="254164"/>
                  <a:pt x="125710" y="258729"/>
                  <a:pt x="128759" y="261773"/>
                </a:cubicBezTo>
                <a:lnTo>
                  <a:pt x="140191" y="273238"/>
                </a:lnTo>
                <a:cubicBezTo>
                  <a:pt x="143239" y="276332"/>
                  <a:pt x="147913" y="277195"/>
                  <a:pt x="151927" y="275572"/>
                </a:cubicBezTo>
                <a:lnTo>
                  <a:pt x="177077" y="265223"/>
                </a:lnTo>
                <a:cubicBezTo>
                  <a:pt x="179617" y="264208"/>
                  <a:pt x="182564" y="264208"/>
                  <a:pt x="185206" y="265223"/>
                </a:cubicBezTo>
                <a:cubicBezTo>
                  <a:pt x="185409" y="265273"/>
                  <a:pt x="185663" y="265426"/>
                  <a:pt x="185867" y="265476"/>
                </a:cubicBezTo>
                <a:cubicBezTo>
                  <a:pt x="188559" y="266491"/>
                  <a:pt x="190795" y="268622"/>
                  <a:pt x="191964" y="271310"/>
                </a:cubicBezTo>
                <a:lnTo>
                  <a:pt x="202735" y="296472"/>
                </a:lnTo>
                <a:cubicBezTo>
                  <a:pt x="204411" y="300480"/>
                  <a:pt x="208273" y="303016"/>
                  <a:pt x="212642" y="303016"/>
                </a:cubicBezTo>
                <a:lnTo>
                  <a:pt x="228799" y="303016"/>
                </a:lnTo>
                <a:cubicBezTo>
                  <a:pt x="233169" y="303016"/>
                  <a:pt x="237081" y="300378"/>
                  <a:pt x="238757" y="296421"/>
                </a:cubicBezTo>
                <a:lnTo>
                  <a:pt x="249224" y="271057"/>
                </a:lnTo>
                <a:cubicBezTo>
                  <a:pt x="250342" y="268419"/>
                  <a:pt x="252475" y="266288"/>
                  <a:pt x="255117" y="265223"/>
                </a:cubicBezTo>
                <a:cubicBezTo>
                  <a:pt x="255219" y="265172"/>
                  <a:pt x="255422" y="265070"/>
                  <a:pt x="255575" y="265020"/>
                </a:cubicBezTo>
                <a:cubicBezTo>
                  <a:pt x="258217" y="263954"/>
                  <a:pt x="261113" y="263954"/>
                  <a:pt x="263704" y="264969"/>
                </a:cubicBezTo>
                <a:lnTo>
                  <a:pt x="289463" y="275216"/>
                </a:lnTo>
                <a:cubicBezTo>
                  <a:pt x="293426" y="276840"/>
                  <a:pt x="298050" y="275927"/>
                  <a:pt x="301098" y="272883"/>
                </a:cubicBezTo>
                <a:lnTo>
                  <a:pt x="312530" y="261418"/>
                </a:lnTo>
                <a:cubicBezTo>
                  <a:pt x="315680" y="258374"/>
                  <a:pt x="316595" y="253707"/>
                  <a:pt x="314918" y="249750"/>
                </a:cubicBezTo>
                <a:lnTo>
                  <a:pt x="304350" y="224284"/>
                </a:lnTo>
                <a:cubicBezTo>
                  <a:pt x="303283" y="221747"/>
                  <a:pt x="303283" y="218805"/>
                  <a:pt x="304299" y="216268"/>
                </a:cubicBezTo>
                <a:lnTo>
                  <a:pt x="304401" y="215913"/>
                </a:lnTo>
                <a:cubicBezTo>
                  <a:pt x="305519" y="213225"/>
                  <a:pt x="307602" y="211094"/>
                  <a:pt x="310244" y="209978"/>
                </a:cubicBezTo>
                <a:lnTo>
                  <a:pt x="335851" y="199071"/>
                </a:lnTo>
                <a:cubicBezTo>
                  <a:pt x="339865" y="197397"/>
                  <a:pt x="342405" y="193542"/>
                  <a:pt x="342405" y="189179"/>
                </a:cubicBezTo>
                <a:lnTo>
                  <a:pt x="342405" y="173047"/>
                </a:lnTo>
                <a:cubicBezTo>
                  <a:pt x="342405" y="168684"/>
                  <a:pt x="339763" y="164778"/>
                  <a:pt x="335800" y="163104"/>
                </a:cubicBezTo>
                <a:lnTo>
                  <a:pt x="310295" y="152450"/>
                </a:lnTo>
                <a:cubicBezTo>
                  <a:pt x="307602" y="151334"/>
                  <a:pt x="305519" y="149153"/>
                  <a:pt x="304401" y="146464"/>
                </a:cubicBezTo>
                <a:cubicBezTo>
                  <a:pt x="304401" y="146363"/>
                  <a:pt x="304350" y="146312"/>
                  <a:pt x="304350" y="146261"/>
                </a:cubicBezTo>
                <a:cubicBezTo>
                  <a:pt x="303232" y="143674"/>
                  <a:pt x="303232" y="140783"/>
                  <a:pt x="304248" y="138145"/>
                </a:cubicBezTo>
                <a:lnTo>
                  <a:pt x="314562" y="112425"/>
                </a:lnTo>
                <a:cubicBezTo>
                  <a:pt x="316188" y="108417"/>
                  <a:pt x="315223" y="103851"/>
                  <a:pt x="312174" y="100808"/>
                </a:cubicBezTo>
                <a:lnTo>
                  <a:pt x="300743" y="89343"/>
                </a:lnTo>
                <a:cubicBezTo>
                  <a:pt x="297694" y="86248"/>
                  <a:pt x="293020" y="85386"/>
                  <a:pt x="289006" y="87009"/>
                </a:cubicBezTo>
                <a:lnTo>
                  <a:pt x="263704" y="97409"/>
                </a:lnTo>
                <a:cubicBezTo>
                  <a:pt x="261062" y="98575"/>
                  <a:pt x="258064" y="98474"/>
                  <a:pt x="255422" y="97409"/>
                </a:cubicBezTo>
                <a:cubicBezTo>
                  <a:pt x="255270" y="97409"/>
                  <a:pt x="255168" y="97358"/>
                  <a:pt x="255016" y="97257"/>
                </a:cubicBezTo>
                <a:cubicBezTo>
                  <a:pt x="252374" y="96191"/>
                  <a:pt x="250291" y="94162"/>
                  <a:pt x="249122" y="91524"/>
                </a:cubicBezTo>
                <a:lnTo>
                  <a:pt x="238300" y="66159"/>
                </a:lnTo>
                <a:cubicBezTo>
                  <a:pt x="236623" y="62152"/>
                  <a:pt x="232711" y="59615"/>
                  <a:pt x="228393" y="59615"/>
                </a:cubicBezTo>
                <a:close/>
                <a:moveTo>
                  <a:pt x="227935" y="8"/>
                </a:moveTo>
                <a:cubicBezTo>
                  <a:pt x="355767" y="-1007"/>
                  <a:pt x="459669" y="102076"/>
                  <a:pt x="459669" y="229458"/>
                </a:cubicBezTo>
                <a:cubicBezTo>
                  <a:pt x="459669" y="249598"/>
                  <a:pt x="464597" y="269484"/>
                  <a:pt x="474099" y="287341"/>
                </a:cubicBezTo>
                <a:lnTo>
                  <a:pt x="516625" y="367443"/>
                </a:lnTo>
                <a:cubicBezTo>
                  <a:pt x="523890" y="381039"/>
                  <a:pt x="514135" y="397526"/>
                  <a:pt x="498689" y="397779"/>
                </a:cubicBezTo>
                <a:lnTo>
                  <a:pt x="459720" y="398540"/>
                </a:lnTo>
                <a:lnTo>
                  <a:pt x="459720" y="483107"/>
                </a:lnTo>
                <a:cubicBezTo>
                  <a:pt x="459720" y="509689"/>
                  <a:pt x="438025" y="531402"/>
                  <a:pt x="411402" y="531402"/>
                </a:cubicBezTo>
                <a:lnTo>
                  <a:pt x="344844" y="531402"/>
                </a:lnTo>
                <a:lnTo>
                  <a:pt x="344844" y="590958"/>
                </a:lnTo>
                <a:cubicBezTo>
                  <a:pt x="344844" y="600293"/>
                  <a:pt x="337273" y="607902"/>
                  <a:pt x="327925" y="607902"/>
                </a:cubicBezTo>
                <a:lnTo>
                  <a:pt x="89688" y="607902"/>
                </a:lnTo>
                <a:cubicBezTo>
                  <a:pt x="80339" y="607902"/>
                  <a:pt x="72718" y="600293"/>
                  <a:pt x="72718" y="590958"/>
                </a:cubicBezTo>
                <a:lnTo>
                  <a:pt x="72718" y="529829"/>
                </a:lnTo>
                <a:cubicBezTo>
                  <a:pt x="72718" y="461648"/>
                  <a:pt x="56358" y="394482"/>
                  <a:pt x="25111" y="333657"/>
                </a:cubicBezTo>
                <a:cubicBezTo>
                  <a:pt x="9462" y="303118"/>
                  <a:pt x="419" y="268469"/>
                  <a:pt x="12" y="231792"/>
                </a:cubicBezTo>
                <a:cubicBezTo>
                  <a:pt x="-1258" y="104562"/>
                  <a:pt x="100510" y="1022"/>
                  <a:pt x="227935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1665" y="1917700"/>
            <a:ext cx="10847070" cy="218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1.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技术能力突破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掌握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5 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类高危漏洞的原理与复现技巧，熟练使用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Docker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sqlmap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BurpSuite 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等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 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工具。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提升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“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漏洞链思维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”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：从环境搭建到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POC 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编写，再到结果验证，形成闭环分析能力。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5005" y="1052195"/>
            <a:ext cx="3776980" cy="574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Calibri" panose="020F0502020204030204"/>
              </a:rPr>
              <a:t>团队成长与总结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Calibri" panose="020F050202020403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5470" y="4392930"/>
            <a:ext cx="10863580" cy="1734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2. 协作经验沉淀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建立 “漏洞专项负责制”：每人深耕 1-2 个漏洞，再交叉验证，提升效率与准确性。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完善 “问题同步机制”：每日记录实验日志，遇阻时即时讨论。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238892" y="2017881"/>
            <a:ext cx="3563008" cy="3563008"/>
          </a:xfrm>
          <a:prstGeom prst="ellipse">
            <a:avLst/>
          </a:prstGeom>
          <a:noFill/>
          <a:ln>
            <a:gradFill>
              <a:gsLst>
                <a:gs pos="10000">
                  <a:srgbClr val="FCFCFC"/>
                </a:gs>
                <a:gs pos="53000">
                  <a:schemeClr val="accent1"/>
                </a:gs>
                <a:gs pos="90000">
                  <a:srgbClr val="FCFCF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884687" y="1649490"/>
            <a:ext cx="4299790" cy="4299790"/>
          </a:xfrm>
          <a:prstGeom prst="ellipse">
            <a:avLst/>
          </a:prstGeom>
          <a:noFill/>
          <a:ln>
            <a:gradFill>
              <a:gsLst>
                <a:gs pos="25000">
                  <a:srgbClr val="FCFCFC"/>
                </a:gs>
                <a:gs pos="53000">
                  <a:schemeClr val="accent1"/>
                </a:gs>
                <a:gs pos="75000">
                  <a:srgbClr val="FCFCF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5405" y="173894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）专业技能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55406" y="2242585"/>
            <a:ext cx="337609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>
              <a:lnSpc>
                <a:spcPct val="13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通过复现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Git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WebLogic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等漏洞，掌握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Docker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部署、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sqlmap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使用及注入代码编写，对漏洞利用链的理解从理论落地实操。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5405" y="4076337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）团队协作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5406" y="4579982"/>
            <a:ext cx="337609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>
              <a:lnSpc>
                <a:spcPct val="13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跨系统调试、技术互补中，成员高效分工，协作能力显著提升。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28248" y="1649490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）问题解决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64526" y="2153135"/>
            <a:ext cx="337609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>
              <a:lnSpc>
                <a:spcPct val="13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Vite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参数绕过、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WebLogic JDK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兼容等难题中，形成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溯源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-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拆解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-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验证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”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思路，创新多工具联动方法。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4517604" y="896402"/>
            <a:ext cx="3156792" cy="7530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accent5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实训收获</a:t>
            </a:r>
            <a:endParaRPr lang="zh-CN" altLang="en-US" sz="4000" b="1" dirty="0">
              <a:solidFill>
                <a:schemeClr val="accent5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4646295" y="2509520"/>
            <a:ext cx="2802890" cy="25800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158" y="332780"/>
            <a:ext cx="9882052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 团队完成任务的心得体会</a:t>
            </a:r>
            <a:endParaRPr lang="zh-CN" alt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22824" y="1339146"/>
            <a:ext cx="11017792" cy="4898166"/>
          </a:xfrm>
          <a:prstGeom prst="roundRect">
            <a:avLst>
              <a:gd name="adj" fmla="val 275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27847" y="1423347"/>
            <a:ext cx="237790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实训总结</a:t>
            </a:r>
            <a:endParaRPr lang="zh-CN" altLang="en-US" sz="4000" b="1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43872" y="2203242"/>
            <a:ext cx="20172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042268" y="2272541"/>
            <a:ext cx="10388329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eaLnBrk="1">
              <a:lnSpc>
                <a:spcPct val="20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次网络空间安全专业综合实训是一次非常有意义的实践教学活动。通过实训，团队成员在网络安全领域的专业知识和实践技能得到了显著提升，团队协作能力和沟通能力得到了显著增强，创新思维和问题解决能力得到了显著培养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indent="457200" algn="just" eaLnBrk="1">
              <a:lnSpc>
                <a:spcPct val="20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实训成果不仅体现了团队成员的专业素养和实践能力，也展示了团队成员的团队协作精神和创新能力。通过本次实训，团队成员对网络安全有了更深刻的理解和认识，也更加明确了自己未来的学习和研究方向。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hanks for Watching"/>
          <p:cNvSpPr txBox="1"/>
          <p:nvPr/>
        </p:nvSpPr>
        <p:spPr>
          <a:xfrm>
            <a:off x="2949575" y="2799715"/>
            <a:ext cx="6555740" cy="143827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>
            <a:lvl1pPr algn="ctr">
              <a:defRPr sz="3600" b="1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sz="4800" dirty="0"/>
              <a:t>Thanks for Watching</a:t>
            </a:r>
            <a:endParaRPr sz="4800" dirty="0"/>
          </a:p>
        </p:txBody>
      </p:sp>
      <p:sp>
        <p:nvSpPr>
          <p:cNvPr id="2" name="文本框 1"/>
          <p:cNvSpPr txBox="1"/>
          <p:nvPr/>
        </p:nvSpPr>
        <p:spPr>
          <a:xfrm>
            <a:off x="5351145" y="4878705"/>
            <a:ext cx="6161405" cy="9029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3200" b="1" dirty="0" smtClean="0">
                <a:solidFill>
                  <a:schemeClr val="accent5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--</a:t>
            </a:r>
            <a:r>
              <a:rPr kumimoji="1" lang="zh-CN" altLang="en-US" sz="3200" b="1" dirty="0" smtClean="0">
                <a:solidFill>
                  <a:schemeClr val="accent5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南开大学</a:t>
            </a:r>
            <a:r>
              <a:rPr kumimoji="1" lang="en-US" altLang="zh-CN" sz="3200" b="1" dirty="0" smtClean="0">
                <a:solidFill>
                  <a:schemeClr val="accent5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11</a:t>
            </a:r>
            <a:r>
              <a:rPr kumimoji="1" lang="zh-CN" altLang="en-US" sz="3200" b="1" dirty="0" smtClean="0">
                <a:solidFill>
                  <a:schemeClr val="accent5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小组（小鸟壁纸）</a:t>
            </a:r>
            <a:endParaRPr kumimoji="1" lang="zh-CN" altLang="en-US" sz="3200" b="1" i="0" u="none" strike="noStrike" cap="none" spc="0" normalizeH="0" baseline="0" dirty="0" smtClean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黑体" panose="02010609060101010101" charset="-122"/>
              <a:ea typeface="黑体" panose="02010609060101010101" charset="-122"/>
              <a:cs typeface="+mj-cs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837*352"/>
  <p:tag name="TABLE_ENDDRAG_RECT" val="32*139*837*352"/>
</p:tagLst>
</file>

<file path=ppt/tags/tag2.xml><?xml version="1.0" encoding="utf-8"?>
<p:tagLst xmlns:p="http://schemas.openxmlformats.org/presentationml/2006/main">
  <p:tag name="TABLE_ENDDRAG_ORIGIN_RECT" val="856*363"/>
  <p:tag name="TABLE_ENDDRAG_RECT" val="57*132*856*363"/>
</p:tagLst>
</file>

<file path=ppt/tags/tag3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4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5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6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7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8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9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0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1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2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3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4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5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6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7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8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19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20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21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22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23.xml><?xml version="1.0" encoding="utf-8"?>
<p:tagLst xmlns:p="http://schemas.openxmlformats.org/presentationml/2006/main">
  <p:tag name="KSO_WM_DIAGRAM_VIRTUALLY_FRAME" val="{&quot;height&quot;:340.2163779527559,&quot;left&quot;:49.085984251968505,&quot;top&quot;:147.1,&quot;width&quot;:855}"/>
</p:tagLst>
</file>

<file path=ppt/tags/tag24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25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26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27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28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29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0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1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2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3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4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5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6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7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8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39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0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1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2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3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4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5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6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7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8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49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0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1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2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3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4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5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6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7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8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59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0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1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2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3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4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5.xml><?xml version="1.0" encoding="utf-8"?>
<p:tagLst xmlns:p="http://schemas.openxmlformats.org/presentationml/2006/main">
  <p:tag name="KSO_WM_DIAGRAM_VIRTUALLY_FRAME" val="{&quot;height&quot;:340.1952755905512,&quot;left&quot;:49.085984251968505,&quot;top&quot;:147.1211023622047,&quot;width&quot;:855}"/>
</p:tagLst>
</file>

<file path=ppt/tags/tag6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6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6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6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7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8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9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0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19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0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1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2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3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4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5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6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7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ags/tag128.xml><?xml version="1.0" encoding="utf-8"?>
<p:tagLst xmlns:p="http://schemas.openxmlformats.org/presentationml/2006/main">
  <p:tag name="KSO_WM_DIAGRAM_VIRTUALLY_FRAME" val="{&quot;height&quot;:394.38866141732285,&quot;left&quot;:49.085984251968505,&quot;top&quot;:147.1211023622047,&quot;width&quot;:855}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5482</Words>
  <Application>WPS Office WWO_wpscloud_20250709230529-5649006cad</Application>
  <PresentationFormat>宽屏</PresentationFormat>
  <Paragraphs>377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Arial</vt:lpstr>
      <vt:lpstr>微软雅黑</vt:lpstr>
      <vt:lpstr>汉仪旗黑KW 55S</vt:lpstr>
      <vt:lpstr>黑体</vt:lpstr>
      <vt:lpstr>Segoe UI Light</vt:lpstr>
      <vt:lpstr>微软雅黑 Light</vt:lpstr>
      <vt:lpstr>思源宋体 CN Heavy</vt:lpstr>
      <vt:lpstr>汉仪书宋二KW</vt:lpstr>
      <vt:lpstr>Kingsoft Confetti</vt:lpstr>
      <vt:lpstr>Noto Naskh Arabic UI</vt:lpstr>
      <vt:lpstr>Helvetica</vt:lpstr>
      <vt:lpstr>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小何同学</cp:lastModifiedBy>
  <dcterms:created xsi:type="dcterms:W3CDTF">2025-07-24T05:53:03Z</dcterms:created>
  <dcterms:modified xsi:type="dcterms:W3CDTF">2025-07-24T05:53:03Z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DD3DD651B791427DA4D17532459FB737</vt:lpwstr>
  </property>
  <property fmtid="{D5CDD505-2E9C-101B-9397-08002B2CF9AE}" pid="3" name="KSOProductBuildVer">
    <vt:lpwstr>2052-12.9.0.21991</vt:lpwstr>
  </property>
</Properties>
</file>